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74" r:id="rId11"/>
    <p:sldId id="266" r:id="rId12"/>
    <p:sldId id="265" r:id="rId13"/>
    <p:sldId id="272" r:id="rId14"/>
    <p:sldId id="280" r:id="rId15"/>
    <p:sldId id="269" r:id="rId16"/>
    <p:sldId id="270" r:id="rId17"/>
    <p:sldId id="271" r:id="rId1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F46E5"/>
    <a:srgbClr val="E11D4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C46ADA4-FBC1-A60B-C7F4-31BF93DC2ED2}" v="10" dt="2026-06-19T11:33:45.337"/>
    <p1510:client id="{3C7B52E0-64B0-2E43-D558-EECBF5231FFD}" v="400" dt="2026-06-19T07:31:31.985"/>
    <p1510:client id="{53BF8927-C00F-7EE2-8096-4DCD55A2CDDD}" v="32" dt="2026-06-18T06:14:25.539"/>
    <p1510:client id="{6CD95CA8-20F7-8675-B5F4-BACADA837939}" v="22" dt="2026-06-18T09:42:23.846"/>
    <p1510:client id="{6E5EE3A6-E8AF-799C-8773-41E812DBF3F5}" v="339" dt="2026-06-19T16:51:14.302"/>
    <p1510:client id="{8FB48F84-DDA3-1B77-130E-E2D5C7876AAA}" v="105" dt="2026-06-19T10:01:06.793"/>
    <p1510:client id="{A8B464B9-1066-7B73-CAD5-2EC889F53987}" v="25" dt="2026-06-18T07:55:50.287"/>
    <p1510:client id="{CAB1CDFC-2E65-1E3F-1065-789F70C75E36}" v="28" dt="2026-06-18T18:10:20.380"/>
    <p1510:client id="{D87A0E56-5AAE-DCF0-C91F-9CB8003539DE}" v="8" dt="2026-06-19T06:09:15.330"/>
    <p1510:client id="{E7FDCEF7-3243-9FB7-49C6-AC0D028F76A3}" v="151" dt="2026-06-18T17:50:48.645"/>
    <p1510:client id="{FFAD4F60-1985-C8F4-E620-FE4120101C8A}" v="258" dt="2026-06-19T11:17:23.23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064A677-1332-455B-AC9C-13D69D5878A6}" type="datetimeFigureOut">
              <a:t>6/21/2026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DDF4CD7-AC56-4706-848D-82B2AAF0FFE1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66029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E8097B-A38E-81B9-AECD-46953EA691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9EB419B-877E-9E6D-D430-82CAABF855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C7A3FEB-6119-2C7B-BCF5-35A91F88BB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584F04-3E22-A765-DB63-DA0C93A97D0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374835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63F77C-6D95-80B6-F157-1158D67C5B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F0A4E62-665A-D372-F4DB-4CDF35458B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8D7D560-6AAA-CF46-FE09-8E6CA4C092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349F1B-39C5-9034-EEBD-E25E0413F07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380829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05AEB8-B673-07FA-6E19-7C55577352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8070285-0E19-42E6-3682-143A9C01C3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0A9E6AE-2C82-11C5-B368-89EAAA8112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0B8BB2-7EAF-8795-6421-AF39EC5C686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788296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10667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4267"/>
            </a:lvl1pPr>
            <a:lvl2pPr marL="812810" indent="0" algn="ctr">
              <a:buNone/>
              <a:defRPr sz="3556"/>
            </a:lvl2pPr>
            <a:lvl3pPr marL="1625620" indent="0" algn="ctr">
              <a:buNone/>
              <a:defRPr sz="3200"/>
            </a:lvl3pPr>
            <a:lvl4pPr marL="2438430" indent="0" algn="ctr">
              <a:buNone/>
              <a:defRPr sz="2844"/>
            </a:lvl4pPr>
            <a:lvl5pPr marL="3251241" indent="0" algn="ctr">
              <a:buNone/>
              <a:defRPr sz="2844"/>
            </a:lvl5pPr>
            <a:lvl6pPr marL="4064051" indent="0" algn="ctr">
              <a:buNone/>
              <a:defRPr sz="2844"/>
            </a:lvl6pPr>
            <a:lvl7pPr marL="4876861" indent="0" algn="ctr">
              <a:buNone/>
              <a:defRPr sz="2844"/>
            </a:lvl7pPr>
            <a:lvl8pPr marL="5689671" indent="0" algn="ctr">
              <a:buNone/>
              <a:defRPr sz="2844"/>
            </a:lvl8pPr>
            <a:lvl9pPr marL="6502481" indent="0" algn="ctr">
              <a:buNone/>
              <a:defRPr sz="2844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6/21/2026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24696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6/21/2026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58031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10667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4267">
                <a:solidFill>
                  <a:schemeClr val="tx1">
                    <a:tint val="75000"/>
                  </a:schemeClr>
                </a:solidFill>
              </a:defRPr>
            </a:lvl1pPr>
            <a:lvl2pPr marL="812810" indent="0">
              <a:buNone/>
              <a:defRPr sz="3556">
                <a:solidFill>
                  <a:schemeClr val="tx1">
                    <a:tint val="75000"/>
                  </a:schemeClr>
                </a:solidFill>
              </a:defRPr>
            </a:lvl2pPr>
            <a:lvl3pPr marL="162562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3pPr>
            <a:lvl4pPr marL="2438430" indent="0">
              <a:buNone/>
              <a:defRPr sz="2844">
                <a:solidFill>
                  <a:schemeClr val="tx1">
                    <a:tint val="75000"/>
                  </a:schemeClr>
                </a:solidFill>
              </a:defRPr>
            </a:lvl4pPr>
            <a:lvl5pPr marL="3251241" indent="0">
              <a:buNone/>
              <a:defRPr sz="2844">
                <a:solidFill>
                  <a:schemeClr val="tx1">
                    <a:tint val="75000"/>
                  </a:schemeClr>
                </a:solidFill>
              </a:defRPr>
            </a:lvl5pPr>
            <a:lvl6pPr marL="4064051" indent="0">
              <a:buNone/>
              <a:defRPr sz="2844">
                <a:solidFill>
                  <a:schemeClr val="tx1">
                    <a:tint val="75000"/>
                  </a:schemeClr>
                </a:solidFill>
              </a:defRPr>
            </a:lvl6pPr>
            <a:lvl7pPr marL="4876861" indent="0">
              <a:buNone/>
              <a:defRPr sz="2844">
                <a:solidFill>
                  <a:schemeClr val="tx1">
                    <a:tint val="75000"/>
                  </a:schemeClr>
                </a:solidFill>
              </a:defRPr>
            </a:lvl7pPr>
            <a:lvl8pPr marL="5689671" indent="0">
              <a:buNone/>
              <a:defRPr sz="2844">
                <a:solidFill>
                  <a:schemeClr val="tx1">
                    <a:tint val="75000"/>
                  </a:schemeClr>
                </a:solidFill>
              </a:defRPr>
            </a:lvl8pPr>
            <a:lvl9pPr marL="6502481" indent="0">
              <a:buNone/>
              <a:defRPr sz="2844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6/21/2026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46032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6/21/2026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85153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4267" b="1"/>
            </a:lvl1pPr>
            <a:lvl2pPr marL="812810" indent="0">
              <a:buNone/>
              <a:defRPr sz="3556" b="1"/>
            </a:lvl2pPr>
            <a:lvl3pPr marL="1625620" indent="0">
              <a:buNone/>
              <a:defRPr sz="3200" b="1"/>
            </a:lvl3pPr>
            <a:lvl4pPr marL="2438430" indent="0">
              <a:buNone/>
              <a:defRPr sz="2844" b="1"/>
            </a:lvl4pPr>
            <a:lvl5pPr marL="3251241" indent="0">
              <a:buNone/>
              <a:defRPr sz="2844" b="1"/>
            </a:lvl5pPr>
            <a:lvl6pPr marL="4064051" indent="0">
              <a:buNone/>
              <a:defRPr sz="2844" b="1"/>
            </a:lvl6pPr>
            <a:lvl7pPr marL="4876861" indent="0">
              <a:buNone/>
              <a:defRPr sz="2844" b="1"/>
            </a:lvl7pPr>
            <a:lvl8pPr marL="5689671" indent="0">
              <a:buNone/>
              <a:defRPr sz="2844" b="1"/>
            </a:lvl8pPr>
            <a:lvl9pPr marL="6502481" indent="0">
              <a:buNone/>
              <a:defRPr sz="284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4267" b="1"/>
            </a:lvl1pPr>
            <a:lvl2pPr marL="812810" indent="0">
              <a:buNone/>
              <a:defRPr sz="3556" b="1"/>
            </a:lvl2pPr>
            <a:lvl3pPr marL="1625620" indent="0">
              <a:buNone/>
              <a:defRPr sz="3200" b="1"/>
            </a:lvl3pPr>
            <a:lvl4pPr marL="2438430" indent="0">
              <a:buNone/>
              <a:defRPr sz="2844" b="1"/>
            </a:lvl4pPr>
            <a:lvl5pPr marL="3251241" indent="0">
              <a:buNone/>
              <a:defRPr sz="2844" b="1"/>
            </a:lvl5pPr>
            <a:lvl6pPr marL="4064051" indent="0">
              <a:buNone/>
              <a:defRPr sz="2844" b="1"/>
            </a:lvl6pPr>
            <a:lvl7pPr marL="4876861" indent="0">
              <a:buNone/>
              <a:defRPr sz="2844" b="1"/>
            </a:lvl7pPr>
            <a:lvl8pPr marL="5689671" indent="0">
              <a:buNone/>
              <a:defRPr sz="2844" b="1"/>
            </a:lvl8pPr>
            <a:lvl9pPr marL="6502481" indent="0">
              <a:buNone/>
              <a:defRPr sz="284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6/21/2026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05576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6/21/2026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01279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6/21/2026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05916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5689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5689"/>
            </a:lvl1pPr>
            <a:lvl2pPr>
              <a:defRPr sz="4978"/>
            </a:lvl2pPr>
            <a:lvl3pPr>
              <a:defRPr sz="4267"/>
            </a:lvl3pPr>
            <a:lvl4pPr>
              <a:defRPr sz="3556"/>
            </a:lvl4pPr>
            <a:lvl5pPr>
              <a:defRPr sz="3556"/>
            </a:lvl5pPr>
            <a:lvl6pPr>
              <a:defRPr sz="3556"/>
            </a:lvl6pPr>
            <a:lvl7pPr>
              <a:defRPr sz="3556"/>
            </a:lvl7pPr>
            <a:lvl8pPr>
              <a:defRPr sz="3556"/>
            </a:lvl8pPr>
            <a:lvl9pPr>
              <a:defRPr sz="3556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2844"/>
            </a:lvl1pPr>
            <a:lvl2pPr marL="812810" indent="0">
              <a:buNone/>
              <a:defRPr sz="2489"/>
            </a:lvl2pPr>
            <a:lvl3pPr marL="1625620" indent="0">
              <a:buNone/>
              <a:defRPr sz="2133"/>
            </a:lvl3pPr>
            <a:lvl4pPr marL="2438430" indent="0">
              <a:buNone/>
              <a:defRPr sz="1778"/>
            </a:lvl4pPr>
            <a:lvl5pPr marL="3251241" indent="0">
              <a:buNone/>
              <a:defRPr sz="1778"/>
            </a:lvl5pPr>
            <a:lvl6pPr marL="4064051" indent="0">
              <a:buNone/>
              <a:defRPr sz="1778"/>
            </a:lvl6pPr>
            <a:lvl7pPr marL="4876861" indent="0">
              <a:buNone/>
              <a:defRPr sz="1778"/>
            </a:lvl7pPr>
            <a:lvl8pPr marL="5689671" indent="0">
              <a:buNone/>
              <a:defRPr sz="1778"/>
            </a:lvl8pPr>
            <a:lvl9pPr marL="6502481" indent="0">
              <a:buNone/>
              <a:defRPr sz="1778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6/21/2026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61753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5689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5689"/>
            </a:lvl1pPr>
            <a:lvl2pPr marL="812810" indent="0">
              <a:buNone/>
              <a:defRPr sz="4978"/>
            </a:lvl2pPr>
            <a:lvl3pPr marL="1625620" indent="0">
              <a:buNone/>
              <a:defRPr sz="4267"/>
            </a:lvl3pPr>
            <a:lvl4pPr marL="2438430" indent="0">
              <a:buNone/>
              <a:defRPr sz="3556"/>
            </a:lvl4pPr>
            <a:lvl5pPr marL="3251241" indent="0">
              <a:buNone/>
              <a:defRPr sz="3556"/>
            </a:lvl5pPr>
            <a:lvl6pPr marL="4064051" indent="0">
              <a:buNone/>
              <a:defRPr sz="3556"/>
            </a:lvl6pPr>
            <a:lvl7pPr marL="4876861" indent="0">
              <a:buNone/>
              <a:defRPr sz="3556"/>
            </a:lvl7pPr>
            <a:lvl8pPr marL="5689671" indent="0">
              <a:buNone/>
              <a:defRPr sz="3556"/>
            </a:lvl8pPr>
            <a:lvl9pPr marL="6502481" indent="0">
              <a:buNone/>
              <a:defRPr sz="3556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2844"/>
            </a:lvl1pPr>
            <a:lvl2pPr marL="812810" indent="0">
              <a:buNone/>
              <a:defRPr sz="2489"/>
            </a:lvl2pPr>
            <a:lvl3pPr marL="1625620" indent="0">
              <a:buNone/>
              <a:defRPr sz="2133"/>
            </a:lvl3pPr>
            <a:lvl4pPr marL="2438430" indent="0">
              <a:buNone/>
              <a:defRPr sz="1778"/>
            </a:lvl4pPr>
            <a:lvl5pPr marL="3251241" indent="0">
              <a:buNone/>
              <a:defRPr sz="1778"/>
            </a:lvl5pPr>
            <a:lvl6pPr marL="4064051" indent="0">
              <a:buNone/>
              <a:defRPr sz="1778"/>
            </a:lvl6pPr>
            <a:lvl7pPr marL="4876861" indent="0">
              <a:buNone/>
              <a:defRPr sz="1778"/>
            </a:lvl7pPr>
            <a:lvl8pPr marL="5689671" indent="0">
              <a:buNone/>
              <a:defRPr sz="1778"/>
            </a:lvl8pPr>
            <a:lvl9pPr marL="6502481" indent="0">
              <a:buNone/>
              <a:defRPr sz="1778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6/21/2026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03800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6/21/2026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06323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6/21/2026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1108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318884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13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6/21/2026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13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13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61632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749834" y="128016"/>
            <a:ext cx="3378925" cy="5015484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6594" y="-743494"/>
            <a:ext cx="2560320" cy="2560320"/>
          </a:xfrm>
          <a:prstGeom prst="ellipse">
            <a:avLst/>
          </a:prstGeom>
          <a:solidFill>
            <a:srgbClr val="5B52F0">
              <a:alpha val="42000"/>
            </a:srgbClr>
          </a:solidFill>
          <a:ln w="12700">
            <a:solidFill>
              <a:srgbClr val="5B52F0">
                <a:alpha val="4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0" y="3566160"/>
            <a:ext cx="2011680" cy="2011680"/>
          </a:xfrm>
          <a:prstGeom prst="ellipse">
            <a:avLst/>
          </a:prstGeom>
          <a:solidFill>
            <a:srgbClr val="3730C4">
              <a:alpha val="38000"/>
            </a:srgbClr>
          </a:solidFill>
          <a:ln w="12700">
            <a:solidFill>
              <a:srgbClr val="3730C4">
                <a:alpha val="38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852160" y="45720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📡</a:t>
            </a:r>
            <a:endParaRPr lang="en-US" sz="3400"/>
          </a:p>
        </p:txBody>
      </p:sp>
      <p:sp>
        <p:nvSpPr>
          <p:cNvPr id="7" name="Text 5"/>
          <p:cNvSpPr/>
          <p:nvPr/>
        </p:nvSpPr>
        <p:spPr>
          <a:xfrm>
            <a:off x="5852160" y="109728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Inside</a:t>
            </a:r>
            <a:endParaRPr lang="en-US" sz="1500"/>
          </a:p>
        </p:txBody>
      </p:sp>
      <p:sp>
        <p:nvSpPr>
          <p:cNvPr id="8" name="Shape 6"/>
          <p:cNvSpPr/>
          <p:nvPr/>
        </p:nvSpPr>
        <p:spPr>
          <a:xfrm>
            <a:off x="5925312" y="1572768"/>
            <a:ext cx="2889504" cy="219456"/>
          </a:xfrm>
          <a:prstGeom prst="roundRect">
            <a:avLst>
              <a:gd name="adj" fmla="val 16667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28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25312" y="1572768"/>
            <a:ext cx="28895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Problem Statement</a:t>
            </a:r>
            <a:endParaRPr lang="en-US" sz="900"/>
          </a:p>
        </p:txBody>
      </p:sp>
      <p:sp>
        <p:nvSpPr>
          <p:cNvPr id="10" name="Shape 8"/>
          <p:cNvSpPr/>
          <p:nvPr/>
        </p:nvSpPr>
        <p:spPr>
          <a:xfrm>
            <a:off x="5925312" y="1819656"/>
            <a:ext cx="2889504" cy="219456"/>
          </a:xfrm>
          <a:prstGeom prst="roundRect">
            <a:avLst>
              <a:gd name="adj" fmla="val 16667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28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25312" y="1819656"/>
            <a:ext cx="28895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What is RAG?</a:t>
            </a:r>
            <a:endParaRPr lang="en-US" sz="900"/>
          </a:p>
        </p:txBody>
      </p:sp>
      <p:sp>
        <p:nvSpPr>
          <p:cNvPr id="12" name="Shape 10"/>
          <p:cNvSpPr/>
          <p:nvPr/>
        </p:nvSpPr>
        <p:spPr>
          <a:xfrm>
            <a:off x="5925312" y="2066544"/>
            <a:ext cx="2889504" cy="219456"/>
          </a:xfrm>
          <a:prstGeom prst="roundRect">
            <a:avLst>
              <a:gd name="adj" fmla="val 16667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28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25312" y="2066544"/>
            <a:ext cx="28895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RAG Pipeline</a:t>
            </a:r>
            <a:endParaRPr lang="en-US" sz="900"/>
          </a:p>
        </p:txBody>
      </p:sp>
      <p:sp>
        <p:nvSpPr>
          <p:cNvPr id="14" name="Shape 12"/>
          <p:cNvSpPr/>
          <p:nvPr/>
        </p:nvSpPr>
        <p:spPr>
          <a:xfrm>
            <a:off x="5925312" y="2313432"/>
            <a:ext cx="2889504" cy="219456"/>
          </a:xfrm>
          <a:prstGeom prst="roundRect">
            <a:avLst>
              <a:gd name="adj" fmla="val 16667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28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25312" y="2313432"/>
            <a:ext cx="28895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Solution Overview</a:t>
            </a:r>
            <a:endParaRPr lang="en-US" sz="900"/>
          </a:p>
        </p:txBody>
      </p:sp>
      <p:sp>
        <p:nvSpPr>
          <p:cNvPr id="16" name="Shape 14"/>
          <p:cNvSpPr/>
          <p:nvPr/>
        </p:nvSpPr>
        <p:spPr>
          <a:xfrm>
            <a:off x="5925312" y="2560320"/>
            <a:ext cx="2889504" cy="219456"/>
          </a:xfrm>
          <a:prstGeom prst="roundRect">
            <a:avLst>
              <a:gd name="adj" fmla="val 16667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28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25312" y="2560320"/>
            <a:ext cx="28895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Tech Stack</a:t>
            </a:r>
            <a:endParaRPr lang="en-US" sz="900"/>
          </a:p>
        </p:txBody>
      </p:sp>
      <p:sp>
        <p:nvSpPr>
          <p:cNvPr id="18" name="Shape 16"/>
          <p:cNvSpPr/>
          <p:nvPr/>
        </p:nvSpPr>
        <p:spPr>
          <a:xfrm>
            <a:off x="5925312" y="2807208"/>
            <a:ext cx="2889504" cy="219456"/>
          </a:xfrm>
          <a:prstGeom prst="roundRect">
            <a:avLst>
              <a:gd name="adj" fmla="val 16667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28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25312" y="2807208"/>
            <a:ext cx="28895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System Architecture</a:t>
            </a:r>
            <a:endParaRPr lang="en-US" sz="900"/>
          </a:p>
        </p:txBody>
      </p:sp>
      <p:sp>
        <p:nvSpPr>
          <p:cNvPr id="20" name="Shape 18"/>
          <p:cNvSpPr/>
          <p:nvPr/>
        </p:nvSpPr>
        <p:spPr>
          <a:xfrm>
            <a:off x="5925312" y="3054096"/>
            <a:ext cx="2889504" cy="219456"/>
          </a:xfrm>
          <a:prstGeom prst="roundRect">
            <a:avLst>
              <a:gd name="adj" fmla="val 16667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28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25312" y="3054096"/>
            <a:ext cx="28895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Web + PDF Ingestion</a:t>
            </a:r>
            <a:endParaRPr lang="en-US" sz="900"/>
          </a:p>
        </p:txBody>
      </p:sp>
      <p:sp>
        <p:nvSpPr>
          <p:cNvPr id="22" name="Shape 20"/>
          <p:cNvSpPr/>
          <p:nvPr/>
        </p:nvSpPr>
        <p:spPr>
          <a:xfrm>
            <a:off x="5925312" y="3300984"/>
            <a:ext cx="2889504" cy="219456"/>
          </a:xfrm>
          <a:prstGeom prst="roundRect">
            <a:avLst>
              <a:gd name="adj" fmla="val 16667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28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25312" y="3300984"/>
            <a:ext cx="28895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Auto-Scheduler</a:t>
            </a:r>
            <a:endParaRPr lang="en-US" sz="900"/>
          </a:p>
        </p:txBody>
      </p:sp>
      <p:sp>
        <p:nvSpPr>
          <p:cNvPr id="24" name="Shape 22"/>
          <p:cNvSpPr/>
          <p:nvPr/>
        </p:nvSpPr>
        <p:spPr>
          <a:xfrm>
            <a:off x="5925312" y="3547872"/>
            <a:ext cx="2889504" cy="219456"/>
          </a:xfrm>
          <a:prstGeom prst="roundRect">
            <a:avLst>
              <a:gd name="adj" fmla="val 16667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28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25312" y="3547872"/>
            <a:ext cx="28895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 UI Demo</a:t>
            </a:r>
            <a:endParaRPr lang="en-US" sz="900"/>
          </a:p>
        </p:txBody>
      </p:sp>
      <p:sp>
        <p:nvSpPr>
          <p:cNvPr id="26" name="Shape 24"/>
          <p:cNvSpPr/>
          <p:nvPr/>
        </p:nvSpPr>
        <p:spPr>
          <a:xfrm>
            <a:off x="5925312" y="3794760"/>
            <a:ext cx="2889504" cy="219456"/>
          </a:xfrm>
          <a:prstGeom prst="roundRect">
            <a:avLst>
              <a:gd name="adj" fmla="val 16667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28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25312" y="3794760"/>
            <a:ext cx="28895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 Key Features</a:t>
            </a:r>
            <a:endParaRPr lang="en-US" sz="900"/>
          </a:p>
        </p:txBody>
      </p:sp>
      <p:sp>
        <p:nvSpPr>
          <p:cNvPr id="28" name="Shape 26"/>
          <p:cNvSpPr/>
          <p:nvPr/>
        </p:nvSpPr>
        <p:spPr>
          <a:xfrm>
            <a:off x="5925312" y="4041648"/>
            <a:ext cx="2889504" cy="219456"/>
          </a:xfrm>
          <a:prstGeom prst="roundRect">
            <a:avLst>
              <a:gd name="adj" fmla="val 16667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28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925312" y="4041648"/>
            <a:ext cx="28895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 Challenges</a:t>
            </a:r>
            <a:endParaRPr lang="en-US" sz="900"/>
          </a:p>
        </p:txBody>
      </p:sp>
      <p:sp>
        <p:nvSpPr>
          <p:cNvPr id="30" name="Shape 28"/>
          <p:cNvSpPr/>
          <p:nvPr/>
        </p:nvSpPr>
        <p:spPr>
          <a:xfrm>
            <a:off x="5925312" y="4288536"/>
            <a:ext cx="2889504" cy="219456"/>
          </a:xfrm>
          <a:prstGeom prst="roundRect">
            <a:avLst>
              <a:gd name="adj" fmla="val 16667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28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925312" y="4288536"/>
            <a:ext cx="28895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 Solutions</a:t>
            </a:r>
            <a:endParaRPr lang="en-US" sz="900"/>
          </a:p>
        </p:txBody>
      </p:sp>
      <p:sp>
        <p:nvSpPr>
          <p:cNvPr id="32" name="Shape 30"/>
          <p:cNvSpPr/>
          <p:nvPr/>
        </p:nvSpPr>
        <p:spPr>
          <a:xfrm>
            <a:off x="5925312" y="4535424"/>
            <a:ext cx="2889504" cy="219456"/>
          </a:xfrm>
          <a:prstGeom prst="roundRect">
            <a:avLst>
              <a:gd name="adj" fmla="val 16667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28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925312" y="4535424"/>
            <a:ext cx="28895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 Future Work</a:t>
            </a:r>
            <a:endParaRPr lang="en-US" sz="900"/>
          </a:p>
        </p:txBody>
      </p:sp>
      <p:sp>
        <p:nvSpPr>
          <p:cNvPr id="34" name="Shape 32"/>
          <p:cNvSpPr/>
          <p:nvPr/>
        </p:nvSpPr>
        <p:spPr>
          <a:xfrm>
            <a:off x="5925312" y="4782312"/>
            <a:ext cx="2889504" cy="219456"/>
          </a:xfrm>
          <a:prstGeom prst="roundRect">
            <a:avLst>
              <a:gd name="adj" fmla="val 16667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2800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925312" y="4782312"/>
            <a:ext cx="28895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 Conclusion</a:t>
            </a:r>
            <a:endParaRPr lang="en-US" sz="900"/>
          </a:p>
        </p:txBody>
      </p:sp>
      <p:sp>
        <p:nvSpPr>
          <p:cNvPr id="36" name="Text 34"/>
          <p:cNvSpPr/>
          <p:nvPr/>
        </p:nvSpPr>
        <p:spPr>
          <a:xfrm>
            <a:off x="502920" y="1094423"/>
            <a:ext cx="5074920" cy="34747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2000" i="1">
                <a:solidFill>
                  <a:srgbClr val="4F46E5"/>
                </a:solidFill>
                <a:latin typeface="Calibri"/>
                <a:ea typeface="Calibri"/>
                <a:cs typeface="Calibri"/>
              </a:rPr>
              <a:t>Building a</a:t>
            </a:r>
            <a:endParaRPr lang="en-US" sz="2000">
              <a:latin typeface="Calibri"/>
              <a:ea typeface="Calibri"/>
              <a:cs typeface="Calibri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502920" y="1396603"/>
            <a:ext cx="4869538" cy="1490901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3800" b="1">
                <a:solidFill>
                  <a:srgbClr val="1A1D2E"/>
                </a:solidFill>
                <a:latin typeface="Calibri"/>
                <a:ea typeface="Calibri"/>
                <a:cs typeface="Calibri"/>
              </a:rPr>
              <a:t>Telecom Solution</a:t>
            </a:r>
            <a:endParaRPr lang="en-US" sz="380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r>
              <a:rPr lang="en-US" sz="3800" b="1">
                <a:solidFill>
                  <a:srgbClr val="1A1D2E"/>
                </a:solidFill>
                <a:latin typeface="Calibri"/>
                <a:ea typeface="Calibri"/>
                <a:cs typeface="Calibri"/>
              </a:rPr>
              <a:t>Architect Co‑Pilot</a:t>
            </a:r>
            <a:endParaRPr lang="en-US" sz="380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8" name="Shape 36"/>
          <p:cNvSpPr/>
          <p:nvPr/>
        </p:nvSpPr>
        <p:spPr>
          <a:xfrm>
            <a:off x="502920" y="2862215"/>
            <a:ext cx="1371600" cy="54864"/>
          </a:xfrm>
          <a:prstGeom prst="rect">
            <a:avLst/>
          </a:prstGeom>
          <a:solidFill>
            <a:srgbClr val="C00000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02920" y="3052739"/>
            <a:ext cx="5074920" cy="3200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4A5068"/>
                </a:solidFill>
                <a:latin typeface="Calibri"/>
                <a:ea typeface="Calibri"/>
                <a:cs typeface="Calibri"/>
              </a:rPr>
              <a:t>AI-powered assistant for telecom architecture and TM Forum standards</a:t>
            </a:r>
            <a:endParaRPr lang="en-US" sz="1200">
              <a:latin typeface="Calibri"/>
              <a:ea typeface="Calibri"/>
              <a:cs typeface="Calibri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502920" y="3355134"/>
            <a:ext cx="5074920" cy="3200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4A5068"/>
                </a:solidFill>
                <a:latin typeface="Calibri"/>
                <a:ea typeface="Calibri"/>
                <a:cs typeface="Calibri"/>
              </a:rPr>
              <a:t>Built using RAG + cloud LLM deployment architecture</a:t>
            </a:r>
            <a:endParaRPr lang="en-US" sz="1200">
              <a:latin typeface="Calibri"/>
              <a:ea typeface="Calibri"/>
              <a:cs typeface="Calibri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681514" y="3616738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LM</a:t>
            </a:r>
            <a:endParaRPr lang="en-US" sz="1100">
              <a:latin typeface="Calibri"/>
              <a:ea typeface="Calibri"/>
              <a:cs typeface="Calibri"/>
            </a:endParaRPr>
          </a:p>
        </p:txBody>
      </p:sp>
      <p:sp>
        <p:nvSpPr>
          <p:cNvPr id="44" name="Text 42"/>
          <p:cNvSpPr/>
          <p:nvPr/>
        </p:nvSpPr>
        <p:spPr>
          <a:xfrm>
            <a:off x="2423160" y="3438144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  Pinecone + RAG</a:t>
            </a:r>
            <a:endParaRPr lang="en-US" sz="1100">
              <a:latin typeface="Calibri"/>
              <a:ea typeface="Calibri"/>
              <a:cs typeface="Calibri"/>
            </a:endParaRPr>
          </a:p>
        </p:txBody>
      </p:sp>
      <p:sp>
        <p:nvSpPr>
          <p:cNvPr id="45" name="Text 43"/>
          <p:cNvSpPr/>
          <p:nvPr/>
        </p:nvSpPr>
        <p:spPr>
          <a:xfrm>
            <a:off x="503005" y="4152869"/>
            <a:ext cx="5054789" cy="605756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200" i="1">
                <a:solidFill>
                  <a:srgbClr val="4F46E5"/>
                </a:solidFill>
                <a:latin typeface="Calibri"/>
                <a:ea typeface="Calibri"/>
                <a:cs typeface="Calibri"/>
              </a:rPr>
              <a:t>Shruti Jain </a:t>
            </a:r>
            <a:endParaRPr lang="en-US" sz="1200" i="1" dirty="0">
              <a:solidFill>
                <a:srgbClr val="4F46E5"/>
              </a:solidFill>
              <a:latin typeface="Calibri"/>
              <a:ea typeface="Calibri"/>
              <a:cs typeface="Calibri"/>
            </a:endParaRPr>
          </a:p>
          <a:p>
            <a:r>
              <a:rPr lang="en-US" sz="1200" i="1" dirty="0" err="1">
                <a:solidFill>
                  <a:srgbClr val="4F46E5"/>
                </a:solidFill>
                <a:latin typeface="Calibri"/>
                <a:ea typeface="Calibri"/>
                <a:cs typeface="Calibri"/>
              </a:rPr>
              <a:t>B.Tech</a:t>
            </a:r>
            <a:r>
              <a:rPr lang="en-US" sz="1200" i="1" dirty="0">
                <a:solidFill>
                  <a:srgbClr val="4F46E5"/>
                </a:solidFill>
                <a:latin typeface="Calibri"/>
                <a:ea typeface="Calibri"/>
                <a:cs typeface="Calibri"/>
              </a:rPr>
              <a:t> Computer Science </a:t>
            </a:r>
          </a:p>
          <a:p>
            <a:r>
              <a:rPr lang="en-US" sz="1200" i="1">
                <a:solidFill>
                  <a:srgbClr val="4F46E5"/>
                </a:solidFill>
                <a:latin typeface="Calibri"/>
                <a:ea typeface="Calibri"/>
                <a:cs typeface="Calibri"/>
              </a:rPr>
              <a:t>AI Telecom - Intern</a:t>
            </a:r>
            <a:r>
              <a:rPr lang="en-US" sz="1400" i="1" dirty="0">
                <a:solidFill>
                  <a:srgbClr val="4F46E5"/>
                </a:solidFill>
                <a:latin typeface="Calibri"/>
                <a:ea typeface="Calibri"/>
                <a:cs typeface="Calibri"/>
              </a:rPr>
              <a:t> </a:t>
            </a:r>
          </a:p>
        </p:txBody>
      </p:sp>
      <p:pic>
        <p:nvPicPr>
          <p:cNvPr id="41" name="Picture 40" descr="A red text on a white background&#10;&#10;AI-generated content may be incorrect.">
            <a:extLst>
              <a:ext uri="{FF2B5EF4-FFF2-40B4-BE49-F238E27FC236}">
                <a16:creationId xmlns:a16="http://schemas.microsoft.com/office/drawing/2014/main" id="{B3A8CCF4-4337-EBE2-42D6-31859BB047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17264" y="4358754"/>
            <a:ext cx="1838325" cy="571500"/>
          </a:xfrm>
          <a:prstGeom prst="rect">
            <a:avLst/>
          </a:prstGeom>
        </p:spPr>
      </p:pic>
      <p:pic>
        <p:nvPicPr>
          <p:cNvPr id="46" name="Picture 45" descr="A cartoon of a robot with headset and microphone&#10;&#10;AI-generated content may be incorrect.">
            <a:extLst>
              <a:ext uri="{FF2B5EF4-FFF2-40B4-BE49-F238E27FC236}">
                <a16:creationId xmlns:a16="http://schemas.microsoft.com/office/drawing/2014/main" id="{EBD7A092-5A1C-27B6-3D1E-10A8BC2589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1146" y="132210"/>
            <a:ext cx="1501656" cy="96227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02  —  THE CHALLENGE</a:t>
            </a:r>
            <a:endParaRPr lang="en-US" sz="900"/>
          </a:p>
        </p:txBody>
      </p:sp>
      <p:sp>
        <p:nvSpPr>
          <p:cNvPr id="4" name="Text 2"/>
          <p:cNvSpPr/>
          <p:nvPr/>
        </p:nvSpPr>
        <p:spPr>
          <a:xfrm>
            <a:off x="457200" y="402336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1A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60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8229600" cy="27432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115568"/>
            <a:ext cx="2697480" cy="2816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8E8"/>
            </a:solidFill>
            <a:prstDash val="solid"/>
          </a:ln>
          <a:effectLst>
            <a:outerShdw blurRad="127000" dist="38100" dir="8100000" algn="bl" rotWithShape="0">
              <a:srgbClr val="1A1D2E">
                <a:alpha val="9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115568"/>
            <a:ext cx="2697480" cy="54864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207008"/>
            <a:ext cx="2697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</a:t>
            </a:r>
            <a:endParaRPr lang="en-US" sz="2800"/>
          </a:p>
        </p:txBody>
      </p:sp>
      <p:sp>
        <p:nvSpPr>
          <p:cNvPr id="9" name="Text 7"/>
          <p:cNvSpPr/>
          <p:nvPr/>
        </p:nvSpPr>
        <p:spPr>
          <a:xfrm>
            <a:off x="566928" y="1901952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1A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Fragmented Knowledge</a:t>
            </a:r>
            <a:endParaRPr lang="en-US" sz="1300"/>
          </a:p>
        </p:txBody>
      </p:sp>
      <p:sp>
        <p:nvSpPr>
          <p:cNvPr id="10" name="Text 8"/>
          <p:cNvSpPr/>
          <p:nvPr/>
        </p:nvSpPr>
        <p:spPr>
          <a:xfrm>
            <a:off x="566928" y="2304288"/>
            <a:ext cx="2468880" cy="1481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>
                <a:solidFill>
                  <a:srgbClr val="4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Telecom knowledge (eTOM, SID, TMF APIs) is spread across hundreds of PDF documents and scattered web sources with no central access point.</a:t>
            </a:r>
            <a:endParaRPr lang="en-US" sz="1050"/>
          </a:p>
        </p:txBody>
      </p:sp>
      <p:sp>
        <p:nvSpPr>
          <p:cNvPr id="11" name="Shape 9"/>
          <p:cNvSpPr/>
          <p:nvPr/>
        </p:nvSpPr>
        <p:spPr>
          <a:xfrm>
            <a:off x="3291840" y="1115568"/>
            <a:ext cx="2697480" cy="2816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8E8"/>
            </a:solidFill>
            <a:prstDash val="solid"/>
          </a:ln>
          <a:effectLst>
            <a:outerShdw blurRad="127000" dist="38100" dir="8100000" algn="bl" rotWithShape="0">
              <a:srgbClr val="1A1D2E">
                <a:alpha val="9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91840" y="1115568"/>
            <a:ext cx="2697480" cy="5486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91840" y="1207008"/>
            <a:ext cx="2697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⏱️</a:t>
            </a:r>
            <a:endParaRPr lang="en-US" sz="2800"/>
          </a:p>
        </p:txBody>
      </p:sp>
      <p:sp>
        <p:nvSpPr>
          <p:cNvPr id="14" name="Text 12"/>
          <p:cNvSpPr/>
          <p:nvPr/>
        </p:nvSpPr>
        <p:spPr>
          <a:xfrm>
            <a:off x="3401568" y="1901952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1A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Time-Consuming Search</a:t>
            </a:r>
            <a:endParaRPr lang="en-US" sz="1300"/>
          </a:p>
        </p:txBody>
      </p:sp>
      <p:sp>
        <p:nvSpPr>
          <p:cNvPr id="15" name="Text 13"/>
          <p:cNvSpPr/>
          <p:nvPr/>
        </p:nvSpPr>
        <p:spPr>
          <a:xfrm>
            <a:off x="3401568" y="2304288"/>
            <a:ext cx="2468880" cy="1481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>
                <a:solidFill>
                  <a:srgbClr val="4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Architects spend significant time manually searching for relevant information across multiple specifications and frameworks.</a:t>
            </a:r>
            <a:endParaRPr lang="en-US" sz="1050"/>
          </a:p>
        </p:txBody>
      </p:sp>
      <p:sp>
        <p:nvSpPr>
          <p:cNvPr id="16" name="Shape 14"/>
          <p:cNvSpPr/>
          <p:nvPr/>
        </p:nvSpPr>
        <p:spPr>
          <a:xfrm>
            <a:off x="6126480" y="1115568"/>
            <a:ext cx="2697480" cy="2816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8E8"/>
            </a:solidFill>
            <a:prstDash val="solid"/>
          </a:ln>
          <a:effectLst>
            <a:outerShdw blurRad="127000" dist="38100" dir="8100000" algn="bl" rotWithShape="0">
              <a:srgbClr val="1A1D2E">
                <a:alpha val="9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26480" y="1115568"/>
            <a:ext cx="2697480" cy="54864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26480" y="1207008"/>
            <a:ext cx="2697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</a:t>
            </a:r>
            <a:endParaRPr lang="en-US" sz="2800"/>
          </a:p>
        </p:txBody>
      </p:sp>
      <p:sp>
        <p:nvSpPr>
          <p:cNvPr id="19" name="Text 17"/>
          <p:cNvSpPr/>
          <p:nvPr/>
        </p:nvSpPr>
        <p:spPr>
          <a:xfrm>
            <a:off x="6236208" y="1901952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1A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Intelligent System</a:t>
            </a:r>
            <a:endParaRPr lang="en-US" sz="1300"/>
          </a:p>
        </p:txBody>
      </p:sp>
      <p:sp>
        <p:nvSpPr>
          <p:cNvPr id="20" name="Text 18"/>
          <p:cNvSpPr/>
          <p:nvPr/>
        </p:nvSpPr>
        <p:spPr>
          <a:xfrm>
            <a:off x="6236208" y="2304288"/>
            <a:ext cx="2468880" cy="1481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>
                <a:solidFill>
                  <a:srgbClr val="4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existing system provides context-aware, structured answers aligned with telecom architecture frameworks and standards.</a:t>
            </a:r>
            <a:endParaRPr lang="en-US" sz="1050"/>
          </a:p>
        </p:txBody>
      </p:sp>
      <p:sp>
        <p:nvSpPr>
          <p:cNvPr id="21" name="Shape 19"/>
          <p:cNvSpPr/>
          <p:nvPr/>
        </p:nvSpPr>
        <p:spPr>
          <a:xfrm>
            <a:off x="457200" y="4041648"/>
            <a:ext cx="8229600" cy="475488"/>
          </a:xfrm>
          <a:prstGeom prst="rect">
            <a:avLst/>
          </a:prstGeom>
          <a:solidFill>
            <a:srgbClr val="E11D48">
              <a:alpha val="9000"/>
            </a:srgbClr>
          </a:solidFill>
          <a:ln w="12700">
            <a:solidFill>
              <a:srgbClr val="E11D48">
                <a:alpha val="25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" y="4041648"/>
            <a:ext cx="7955280" cy="47548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11D48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200" b="1">
                <a:solidFill>
                  <a:srgbClr val="E11D48"/>
                </a:solidFill>
                <a:latin typeface="Calibri"/>
                <a:ea typeface="Calibri"/>
                <a:cs typeface="Calibri"/>
              </a:rPr>
              <a:t> Need:  </a:t>
            </a:r>
            <a:r>
              <a:rPr lang="en-US" sz="1200" b="1">
                <a:solidFill>
                  <a:srgbClr val="4A5068"/>
                </a:solidFill>
                <a:latin typeface="Calibri"/>
                <a:ea typeface="Calibri"/>
                <a:cs typeface="Calibri"/>
              </a:rPr>
              <a:t>A system that provides fast, structured, and architecture-aligned telecom insights.</a:t>
            </a:r>
            <a:endParaRPr lang="en-US" sz="1200" b="1"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03  —  CORE CONCEPT</a:t>
            </a:r>
            <a:endParaRPr lang="en-US" sz="900"/>
          </a:p>
        </p:txBody>
      </p:sp>
      <p:sp>
        <p:nvSpPr>
          <p:cNvPr id="4" name="Text 2"/>
          <p:cNvSpPr/>
          <p:nvPr/>
        </p:nvSpPr>
        <p:spPr>
          <a:xfrm>
            <a:off x="457200" y="402336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1A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RAG?  (Retrieval-Augmented Generation)</a:t>
            </a:r>
            <a:endParaRPr lang="en-US" sz="260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8229600" cy="27432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97280"/>
            <a:ext cx="2286000" cy="356616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188720"/>
            <a:ext cx="228600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88000"/>
              </a:lnSpc>
              <a:buNone/>
            </a:pPr>
            <a:r>
              <a:rPr lang="en-US" sz="7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7200"/>
          </a:p>
          <a:p>
            <a:pPr marL="0" indent="0" algn="ctr">
              <a:lnSpc>
                <a:spcPct val="88000"/>
              </a:lnSpc>
              <a:buNone/>
            </a:pPr>
            <a:r>
              <a:rPr lang="en-US" sz="7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7200"/>
          </a:p>
          <a:p>
            <a:pPr marL="0" indent="0" algn="ctr">
              <a:lnSpc>
                <a:spcPct val="88000"/>
              </a:lnSpc>
              <a:buNone/>
            </a:pPr>
            <a:r>
              <a:rPr lang="en-US" sz="7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endParaRPr lang="en-US" sz="7200"/>
          </a:p>
        </p:txBody>
      </p:sp>
      <p:sp>
        <p:nvSpPr>
          <p:cNvPr id="8" name="Shape 6"/>
          <p:cNvSpPr/>
          <p:nvPr/>
        </p:nvSpPr>
        <p:spPr>
          <a:xfrm>
            <a:off x="2907792" y="1097280"/>
            <a:ext cx="5779008" cy="1115568"/>
          </a:xfrm>
          <a:prstGeom prst="rect">
            <a:avLst/>
          </a:prstGeom>
          <a:solidFill>
            <a:srgbClr val="F4F6FB"/>
          </a:solidFill>
          <a:ln w="12700">
            <a:solidFill>
              <a:srgbClr val="D1D8E8"/>
            </a:solidFill>
            <a:prstDash val="solid"/>
          </a:ln>
          <a:effectLst>
            <a:outerShdw blurRad="63500" dist="25400" dir="8100000" algn="bl" rotWithShape="0">
              <a:srgbClr val="1A1D2E">
                <a:alpha val="7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907792" y="1097280"/>
            <a:ext cx="64008" cy="1115568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054096" y="1371600"/>
            <a:ext cx="530352" cy="530352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054096" y="137160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1800"/>
          </a:p>
        </p:txBody>
      </p:sp>
      <p:sp>
        <p:nvSpPr>
          <p:cNvPr id="12" name="Text 10"/>
          <p:cNvSpPr/>
          <p:nvPr/>
        </p:nvSpPr>
        <p:spPr>
          <a:xfrm>
            <a:off x="3712464" y="1170432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A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</a:t>
            </a:r>
            <a:endParaRPr lang="en-US" sz="1300"/>
          </a:p>
        </p:txBody>
      </p:sp>
      <p:sp>
        <p:nvSpPr>
          <p:cNvPr id="13" name="Text 11"/>
          <p:cNvSpPr/>
          <p:nvPr/>
        </p:nvSpPr>
        <p:spPr>
          <a:xfrm>
            <a:off x="3712464" y="1499616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4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Combines information retrieval + language generation. Searches through telecom documents and web content using vector embeddings to find relevant context.</a:t>
            </a:r>
            <a:endParaRPr lang="en-US" sz="1000"/>
          </a:p>
        </p:txBody>
      </p:sp>
      <p:sp>
        <p:nvSpPr>
          <p:cNvPr id="14" name="Shape 12"/>
          <p:cNvSpPr/>
          <p:nvPr/>
        </p:nvSpPr>
        <p:spPr>
          <a:xfrm>
            <a:off x="2907792" y="2304288"/>
            <a:ext cx="5779008" cy="1115568"/>
          </a:xfrm>
          <a:prstGeom prst="rect">
            <a:avLst/>
          </a:prstGeom>
          <a:solidFill>
            <a:srgbClr val="F4F6FB"/>
          </a:solidFill>
          <a:ln w="12700">
            <a:solidFill>
              <a:srgbClr val="D1D8E8"/>
            </a:solidFill>
            <a:prstDash val="solid"/>
          </a:ln>
          <a:effectLst>
            <a:outerShdw blurRad="63500" dist="25400" dir="8100000" algn="bl" rotWithShape="0">
              <a:srgbClr val="1A1D2E">
                <a:alpha val="7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907792" y="2304288"/>
            <a:ext cx="64008" cy="11155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054096" y="2578608"/>
            <a:ext cx="530352" cy="53035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054096" y="257860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/>
          </a:p>
        </p:txBody>
      </p:sp>
      <p:sp>
        <p:nvSpPr>
          <p:cNvPr id="18" name="Text 16"/>
          <p:cNvSpPr/>
          <p:nvPr/>
        </p:nvSpPr>
        <p:spPr>
          <a:xfrm>
            <a:off x="3712464" y="2377440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A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Augmented</a:t>
            </a:r>
            <a:endParaRPr lang="en-US" sz="1300"/>
          </a:p>
        </p:txBody>
      </p:sp>
      <p:sp>
        <p:nvSpPr>
          <p:cNvPr id="19" name="Text 17"/>
          <p:cNvSpPr/>
          <p:nvPr/>
        </p:nvSpPr>
        <p:spPr>
          <a:xfrm>
            <a:off x="3712464" y="2706624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4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Retrieves relevant document content before answering. The retrieved chunks are injected as context alongside the question before it goes to the LLM.</a:t>
            </a:r>
            <a:endParaRPr lang="en-US" sz="1000"/>
          </a:p>
        </p:txBody>
      </p:sp>
      <p:sp>
        <p:nvSpPr>
          <p:cNvPr id="20" name="Shape 18"/>
          <p:cNvSpPr/>
          <p:nvPr/>
        </p:nvSpPr>
        <p:spPr>
          <a:xfrm>
            <a:off x="2907792" y="3511296"/>
            <a:ext cx="5779008" cy="1115568"/>
          </a:xfrm>
          <a:prstGeom prst="rect">
            <a:avLst/>
          </a:prstGeom>
          <a:solidFill>
            <a:srgbClr val="F4F6FB"/>
          </a:solidFill>
          <a:ln w="12700">
            <a:solidFill>
              <a:srgbClr val="D1D8E8"/>
            </a:solidFill>
            <a:prstDash val="solid"/>
          </a:ln>
          <a:effectLst>
            <a:outerShdw blurRad="63500" dist="25400" dir="8100000" algn="bl" rotWithShape="0">
              <a:srgbClr val="1A1D2E">
                <a:alpha val="7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907792" y="3511296"/>
            <a:ext cx="64008" cy="111556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054096" y="3785616"/>
            <a:ext cx="530352" cy="530352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054096" y="3785616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endParaRPr lang="en-US" sz="1800"/>
          </a:p>
        </p:txBody>
      </p:sp>
      <p:sp>
        <p:nvSpPr>
          <p:cNvPr id="24" name="Text 22"/>
          <p:cNvSpPr/>
          <p:nvPr/>
        </p:nvSpPr>
        <p:spPr>
          <a:xfrm>
            <a:off x="3712464" y="3584448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A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Generation</a:t>
            </a:r>
            <a:endParaRPr lang="en-US" sz="1300"/>
          </a:p>
        </p:txBody>
      </p:sp>
      <p:sp>
        <p:nvSpPr>
          <p:cNvPr id="25" name="Text 23"/>
          <p:cNvSpPr/>
          <p:nvPr/>
        </p:nvSpPr>
        <p:spPr>
          <a:xfrm>
            <a:off x="3712464" y="3913632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4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retrieved context instead of relying only on model knowledge — ensuring responses are accurate, grounded, and domain-specific.</a:t>
            </a:r>
            <a:endParaRPr lang="en-US" sz="1000"/>
          </a:p>
        </p:txBody>
      </p:sp>
      <p:sp>
        <p:nvSpPr>
          <p:cNvPr id="26" name="Shape 24"/>
          <p:cNvSpPr/>
          <p:nvPr/>
        </p:nvSpPr>
        <p:spPr>
          <a:xfrm>
            <a:off x="448270" y="4693444"/>
            <a:ext cx="8229600" cy="341543"/>
          </a:xfrm>
          <a:prstGeom prst="rect">
            <a:avLst/>
          </a:prstGeom>
          <a:solidFill>
            <a:srgbClr val="4F46E5">
              <a:alpha val="9000"/>
            </a:srgbClr>
          </a:solidFill>
          <a:ln w="12700">
            <a:solidFill>
              <a:srgbClr val="4F46E5">
                <a:alpha val="25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4360" y="4630936"/>
            <a:ext cx="7955280" cy="47548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4F46E5"/>
                </a:solidFill>
                <a:latin typeface="Calibri"/>
                <a:ea typeface="Calibri"/>
                <a:cs typeface="Calibri"/>
              </a:rPr>
              <a:t>  Key Benefit:  </a:t>
            </a:r>
            <a:r>
              <a:rPr lang="en-US" sz="1150">
                <a:solidFill>
                  <a:srgbClr val="4A5068"/>
                </a:solidFill>
                <a:latin typeface="Calibri"/>
                <a:ea typeface="Calibri"/>
                <a:cs typeface="Calibri"/>
              </a:rPr>
              <a:t>Ensures responses are accurate, grounded, and domain-specific — not hallucinated from model weights.</a:t>
            </a:r>
            <a:endParaRPr lang="en-US" sz="1150"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04  —  HOW IT WORKS</a:t>
            </a:r>
            <a:endParaRPr lang="en-US" sz="900"/>
          </a:p>
        </p:txBody>
      </p:sp>
      <p:sp>
        <p:nvSpPr>
          <p:cNvPr id="4" name="Text 2"/>
          <p:cNvSpPr/>
          <p:nvPr/>
        </p:nvSpPr>
        <p:spPr>
          <a:xfrm>
            <a:off x="457200" y="402336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1A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Pipeline — Step by Step</a:t>
            </a:r>
            <a:endParaRPr lang="en-US" sz="260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8229600" cy="27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2395728"/>
            <a:ext cx="7863840" cy="36576"/>
          </a:xfrm>
          <a:prstGeom prst="rect">
            <a:avLst/>
          </a:prstGeom>
          <a:solidFill>
            <a:srgbClr val="D1D8E8"/>
          </a:solidFill>
          <a:ln w="12700">
            <a:solidFill>
              <a:srgbClr val="D1D8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56032" y="1097280"/>
            <a:ext cx="1371600" cy="3794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8E8"/>
            </a:solidFill>
            <a:prstDash val="solid"/>
          </a:ln>
          <a:effectLst>
            <a:outerShdw blurRad="63500" dist="25400" dir="8100000" algn="bl" rotWithShape="0">
              <a:srgbClr val="1A1D2E">
                <a:alpha val="7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56032" y="1097280"/>
            <a:ext cx="1371600" cy="54864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" y="118872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</a:t>
            </a:r>
            <a:endParaRPr lang="en-US" sz="2400"/>
          </a:p>
        </p:txBody>
      </p:sp>
      <p:sp>
        <p:nvSpPr>
          <p:cNvPr id="10" name="Shape 8"/>
          <p:cNvSpPr/>
          <p:nvPr/>
        </p:nvSpPr>
        <p:spPr>
          <a:xfrm>
            <a:off x="566928" y="2157984"/>
            <a:ext cx="749808" cy="475488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" y="2157984"/>
            <a:ext cx="7498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/>
          </a:p>
        </p:txBody>
      </p:sp>
      <p:sp>
        <p:nvSpPr>
          <p:cNvPr id="12" name="Text 10"/>
          <p:cNvSpPr/>
          <p:nvPr/>
        </p:nvSpPr>
        <p:spPr>
          <a:xfrm>
            <a:off x="301752" y="2724912"/>
            <a:ext cx="1280160" cy="4572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1A1D2E"/>
                </a:solidFill>
                <a:latin typeface="Calibri"/>
                <a:ea typeface="Calibri"/>
                <a:cs typeface="Calibri"/>
              </a:rPr>
              <a:t>Document</a:t>
            </a:r>
            <a:endParaRPr lang="en-US" sz="1100">
              <a:latin typeface="Calibri"/>
              <a:ea typeface="Calibri"/>
              <a:cs typeface="Calibri"/>
            </a:endParaRPr>
          </a:p>
          <a:p>
            <a:pPr marL="0" indent="0" algn="ctr">
              <a:buNone/>
            </a:pPr>
            <a:r>
              <a:rPr lang="en-US" sz="1100" b="1">
                <a:solidFill>
                  <a:srgbClr val="1A1D2E"/>
                </a:solidFill>
                <a:latin typeface="Calibri"/>
                <a:ea typeface="Calibri"/>
                <a:cs typeface="Calibri"/>
              </a:rPr>
              <a:t>Ingestion</a:t>
            </a:r>
            <a:endParaRPr lang="en-US" sz="1100">
              <a:latin typeface="Calibri"/>
              <a:ea typeface="Calibri"/>
              <a:cs typeface="Calibri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301752" y="3218688"/>
            <a:ext cx="1280160" cy="15544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/>
            <a:r>
              <a:rPr lang="en-US" sz="1000">
                <a:solidFill>
                  <a:srgbClr val="4A5068"/>
                </a:solidFill>
                <a:ea typeface="+mn-lt"/>
                <a:cs typeface="+mn-lt"/>
              </a:rPr>
              <a:t>Load data from multiple sources</a:t>
            </a:r>
            <a:endParaRPr lang="en-US" sz="1000"/>
          </a:p>
        </p:txBody>
      </p:sp>
      <p:sp>
        <p:nvSpPr>
          <p:cNvPr id="14" name="Text 12"/>
          <p:cNvSpPr/>
          <p:nvPr/>
        </p:nvSpPr>
        <p:spPr>
          <a:xfrm>
            <a:off x="1627632" y="2194560"/>
            <a:ext cx="91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/>
          </a:p>
        </p:txBody>
      </p:sp>
      <p:sp>
        <p:nvSpPr>
          <p:cNvPr id="15" name="Shape 13"/>
          <p:cNvSpPr/>
          <p:nvPr/>
        </p:nvSpPr>
        <p:spPr>
          <a:xfrm>
            <a:off x="1719072" y="1097280"/>
            <a:ext cx="1371600" cy="3794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8E8"/>
            </a:solidFill>
            <a:prstDash val="solid"/>
          </a:ln>
          <a:effectLst>
            <a:outerShdw blurRad="63500" dist="25400" dir="8100000" algn="bl" rotWithShape="0">
              <a:srgbClr val="1A1D2E">
                <a:alpha val="7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1719072" y="1097280"/>
            <a:ext cx="1371600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719072" y="118872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✂️</a:t>
            </a:r>
            <a:endParaRPr lang="en-US" sz="2400"/>
          </a:p>
        </p:txBody>
      </p:sp>
      <p:sp>
        <p:nvSpPr>
          <p:cNvPr id="18" name="Shape 16"/>
          <p:cNvSpPr/>
          <p:nvPr/>
        </p:nvSpPr>
        <p:spPr>
          <a:xfrm>
            <a:off x="2029968" y="2157984"/>
            <a:ext cx="749808" cy="47548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029968" y="2157984"/>
            <a:ext cx="7498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/>
          </a:p>
        </p:txBody>
      </p:sp>
      <p:sp>
        <p:nvSpPr>
          <p:cNvPr id="20" name="Text 18"/>
          <p:cNvSpPr/>
          <p:nvPr/>
        </p:nvSpPr>
        <p:spPr>
          <a:xfrm>
            <a:off x="1764792" y="2724912"/>
            <a:ext cx="1280160" cy="4572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1A1D2E"/>
                </a:solidFill>
                <a:latin typeface="Calibri"/>
                <a:ea typeface="Calibri"/>
                <a:cs typeface="Calibri"/>
              </a:rPr>
              <a:t>Chunking</a:t>
            </a:r>
            <a:endParaRPr lang="en-US" sz="1100">
              <a:latin typeface="Calibri"/>
              <a:ea typeface="Calibri"/>
              <a:cs typeface="Calibri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1764792" y="3218688"/>
            <a:ext cx="1280160" cy="15544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/>
            <a:r>
              <a:rPr lang="en-US" sz="1000">
                <a:solidFill>
                  <a:srgbClr val="4A5068"/>
                </a:solidFill>
                <a:ea typeface="+mn-lt"/>
                <a:cs typeface="+mn-lt"/>
              </a:rPr>
              <a:t>Break content into smaller pieces</a:t>
            </a:r>
            <a:endParaRPr lang="en-US" sz="1000">
              <a:ea typeface="+mn-lt"/>
              <a:cs typeface="+mn-lt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3090672" y="2194560"/>
            <a:ext cx="91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/>
          </a:p>
        </p:txBody>
      </p:sp>
      <p:sp>
        <p:nvSpPr>
          <p:cNvPr id="23" name="Shape 21"/>
          <p:cNvSpPr/>
          <p:nvPr/>
        </p:nvSpPr>
        <p:spPr>
          <a:xfrm>
            <a:off x="3182112" y="1097280"/>
            <a:ext cx="1371600" cy="3794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8E8"/>
            </a:solidFill>
            <a:prstDash val="solid"/>
          </a:ln>
          <a:effectLst>
            <a:outerShdw blurRad="63500" dist="25400" dir="8100000" algn="bl" rotWithShape="0">
              <a:srgbClr val="1A1D2E">
                <a:alpha val="7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182112" y="1097280"/>
            <a:ext cx="13716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182112" y="118872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</a:t>
            </a:r>
            <a:endParaRPr lang="en-US" sz="2400"/>
          </a:p>
        </p:txBody>
      </p:sp>
      <p:sp>
        <p:nvSpPr>
          <p:cNvPr id="26" name="Shape 24"/>
          <p:cNvSpPr/>
          <p:nvPr/>
        </p:nvSpPr>
        <p:spPr>
          <a:xfrm>
            <a:off x="3493008" y="2157984"/>
            <a:ext cx="749808" cy="47548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493008" y="2157984"/>
            <a:ext cx="7498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/>
          </a:p>
        </p:txBody>
      </p:sp>
      <p:sp>
        <p:nvSpPr>
          <p:cNvPr id="28" name="Text 26"/>
          <p:cNvSpPr/>
          <p:nvPr/>
        </p:nvSpPr>
        <p:spPr>
          <a:xfrm>
            <a:off x="3227832" y="2724912"/>
            <a:ext cx="1280160" cy="4572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1A1D2E"/>
                </a:solidFill>
                <a:latin typeface="Calibri"/>
                <a:ea typeface="Calibri"/>
                <a:cs typeface="Calibri"/>
              </a:rPr>
              <a:t>Embedding</a:t>
            </a:r>
            <a:endParaRPr lang="en-US" sz="1100">
              <a:latin typeface="Calibri"/>
              <a:ea typeface="Calibri"/>
              <a:cs typeface="Calibri"/>
            </a:endParaRPr>
          </a:p>
          <a:p>
            <a:pPr marL="0" indent="0" algn="ctr">
              <a:buNone/>
            </a:pPr>
            <a:r>
              <a:rPr lang="en-US" sz="1100" b="1">
                <a:solidFill>
                  <a:srgbClr val="1A1D2E"/>
                </a:solidFill>
                <a:latin typeface="Calibri"/>
                <a:ea typeface="Calibri"/>
                <a:cs typeface="Calibri"/>
              </a:rPr>
              <a:t>Generation</a:t>
            </a:r>
            <a:endParaRPr lang="en-US" sz="1100">
              <a:latin typeface="Calibri"/>
              <a:ea typeface="Calibri"/>
              <a:cs typeface="Calibri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3227832" y="3218688"/>
            <a:ext cx="1280160" cy="15544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/>
            <a:r>
              <a:rPr lang="en-US" sz="1000">
                <a:solidFill>
                  <a:srgbClr val="4A5068"/>
                </a:solidFill>
                <a:ea typeface="+mn-lt"/>
                <a:cs typeface="+mn-lt"/>
              </a:rPr>
              <a:t>Convert text into vector format</a:t>
            </a:r>
            <a:endParaRPr lang="en-US" sz="1000"/>
          </a:p>
          <a:p>
            <a:pPr marL="0" indent="0" algn="ctr">
              <a:buNone/>
            </a:pPr>
            <a:endParaRPr lang="en-US" sz="850" dirty="0">
              <a:solidFill>
                <a:srgbClr val="4A5068"/>
              </a:solidFill>
              <a:ea typeface="Calibri"/>
              <a:cs typeface="Calibri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4553712" y="2194560"/>
            <a:ext cx="91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/>
          </a:p>
        </p:txBody>
      </p:sp>
      <p:sp>
        <p:nvSpPr>
          <p:cNvPr id="31" name="Shape 29"/>
          <p:cNvSpPr/>
          <p:nvPr/>
        </p:nvSpPr>
        <p:spPr>
          <a:xfrm>
            <a:off x="4645152" y="1097280"/>
            <a:ext cx="1371600" cy="3794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8E8"/>
            </a:solidFill>
            <a:prstDash val="solid"/>
          </a:ln>
          <a:effectLst>
            <a:outerShdw blurRad="63500" dist="25400" dir="8100000" algn="bl" rotWithShape="0">
              <a:srgbClr val="1A1D2E">
                <a:alpha val="7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645152" y="1097280"/>
            <a:ext cx="1371600" cy="5486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645152" y="118872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🗃️</a:t>
            </a:r>
            <a:endParaRPr lang="en-US" sz="2400"/>
          </a:p>
        </p:txBody>
      </p:sp>
      <p:sp>
        <p:nvSpPr>
          <p:cNvPr id="34" name="Shape 32"/>
          <p:cNvSpPr/>
          <p:nvPr/>
        </p:nvSpPr>
        <p:spPr>
          <a:xfrm>
            <a:off x="4956048" y="2157984"/>
            <a:ext cx="749808" cy="475488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956048" y="2157984"/>
            <a:ext cx="7498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/>
          </a:p>
        </p:txBody>
      </p:sp>
      <p:sp>
        <p:nvSpPr>
          <p:cNvPr id="36" name="Text 34"/>
          <p:cNvSpPr/>
          <p:nvPr/>
        </p:nvSpPr>
        <p:spPr>
          <a:xfrm>
            <a:off x="4690872" y="2724912"/>
            <a:ext cx="1280160" cy="4572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1A1D2E"/>
                </a:solidFill>
                <a:latin typeface="Calibri"/>
                <a:ea typeface="Calibri"/>
                <a:cs typeface="Calibri"/>
              </a:rPr>
              <a:t>Vector DB</a:t>
            </a:r>
            <a:endParaRPr lang="en-US" sz="1100">
              <a:latin typeface="Calibri"/>
              <a:ea typeface="Calibri"/>
              <a:cs typeface="Calibri"/>
            </a:endParaRPr>
          </a:p>
          <a:p>
            <a:pPr marL="0" indent="0" algn="ctr">
              <a:buNone/>
            </a:pPr>
            <a:r>
              <a:rPr lang="en-US" sz="1100" b="1">
                <a:solidFill>
                  <a:srgbClr val="1A1D2E"/>
                </a:solidFill>
                <a:latin typeface="Calibri"/>
                <a:ea typeface="Calibri"/>
                <a:cs typeface="Calibri"/>
              </a:rPr>
              <a:t>Storage</a:t>
            </a:r>
            <a:endParaRPr lang="en-US" sz="1100">
              <a:latin typeface="Calibri"/>
              <a:ea typeface="Calibri"/>
              <a:cs typeface="Calibri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4690872" y="3218688"/>
            <a:ext cx="1280160" cy="15544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/>
            <a:r>
              <a:rPr lang="en-US" sz="1000">
                <a:solidFill>
                  <a:srgbClr val="4A5068"/>
                </a:solidFill>
                <a:ea typeface="+mn-lt"/>
                <a:cs typeface="+mn-lt"/>
              </a:rPr>
              <a:t>Store data for fast search</a:t>
            </a:r>
            <a:endParaRPr lang="en-US" sz="1000"/>
          </a:p>
          <a:p>
            <a:pPr marL="0" indent="0" algn="ctr">
              <a:buNone/>
            </a:pPr>
            <a:endParaRPr lang="en-US" sz="850" dirty="0">
              <a:solidFill>
                <a:srgbClr val="4A5068"/>
              </a:solidFill>
              <a:ea typeface="Calibri"/>
              <a:cs typeface="Calibri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6016752" y="2194560"/>
            <a:ext cx="91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/>
          </a:p>
        </p:txBody>
      </p:sp>
      <p:sp>
        <p:nvSpPr>
          <p:cNvPr id="39" name="Shape 37"/>
          <p:cNvSpPr/>
          <p:nvPr/>
        </p:nvSpPr>
        <p:spPr>
          <a:xfrm>
            <a:off x="6108192" y="1097280"/>
            <a:ext cx="1371600" cy="3794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8E8"/>
            </a:solidFill>
            <a:prstDash val="solid"/>
          </a:ln>
          <a:effectLst>
            <a:outerShdw blurRad="63500" dist="25400" dir="8100000" algn="bl" rotWithShape="0">
              <a:srgbClr val="1A1D2E">
                <a:alpha val="7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6108192" y="1097280"/>
            <a:ext cx="1371600" cy="5486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108192" y="118872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</a:t>
            </a:r>
            <a:endParaRPr lang="en-US" sz="2400"/>
          </a:p>
        </p:txBody>
      </p:sp>
      <p:sp>
        <p:nvSpPr>
          <p:cNvPr id="42" name="Shape 40"/>
          <p:cNvSpPr/>
          <p:nvPr/>
        </p:nvSpPr>
        <p:spPr>
          <a:xfrm>
            <a:off x="6419088" y="2157984"/>
            <a:ext cx="749808" cy="475488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419088" y="2157984"/>
            <a:ext cx="7498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200"/>
          </a:p>
        </p:txBody>
      </p:sp>
      <p:sp>
        <p:nvSpPr>
          <p:cNvPr id="44" name="Text 42"/>
          <p:cNvSpPr/>
          <p:nvPr/>
        </p:nvSpPr>
        <p:spPr>
          <a:xfrm>
            <a:off x="6153912" y="2724912"/>
            <a:ext cx="1280160" cy="4572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1A1D2E"/>
                </a:solidFill>
                <a:latin typeface="Calibri"/>
                <a:ea typeface="Calibri"/>
                <a:cs typeface="Calibri"/>
              </a:rPr>
              <a:t>Retrieval</a:t>
            </a:r>
            <a:endParaRPr lang="en-US" sz="1100">
              <a:latin typeface="Calibri"/>
              <a:ea typeface="Calibri"/>
              <a:cs typeface="Calibri"/>
            </a:endParaRPr>
          </a:p>
        </p:txBody>
      </p:sp>
      <p:sp>
        <p:nvSpPr>
          <p:cNvPr id="45" name="Text 43"/>
          <p:cNvSpPr/>
          <p:nvPr/>
        </p:nvSpPr>
        <p:spPr>
          <a:xfrm>
            <a:off x="6153912" y="3218688"/>
            <a:ext cx="1280160" cy="15544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/>
            <a:r>
              <a:rPr lang="en-US" sz="1000">
                <a:solidFill>
                  <a:srgbClr val="4A5068"/>
                </a:solidFill>
                <a:ea typeface="Calibri"/>
                <a:cs typeface="Calibri"/>
              </a:rPr>
              <a:t>Fetch relevant information</a:t>
            </a:r>
            <a:endParaRPr lang="en-US" sz="1000">
              <a:solidFill>
                <a:srgbClr val="000000"/>
              </a:solidFill>
              <a:ea typeface="Calibri"/>
              <a:cs typeface="Calibri"/>
            </a:endParaRPr>
          </a:p>
          <a:p>
            <a:pPr marL="0" indent="0" algn="ctr">
              <a:buNone/>
            </a:pPr>
            <a:endParaRPr lang="en-US" sz="850" dirty="0">
              <a:solidFill>
                <a:srgbClr val="4A5068"/>
              </a:solidFill>
              <a:ea typeface="Calibri"/>
              <a:cs typeface="Calibri"/>
            </a:endParaRPr>
          </a:p>
        </p:txBody>
      </p:sp>
      <p:sp>
        <p:nvSpPr>
          <p:cNvPr id="46" name="Text 44"/>
          <p:cNvSpPr/>
          <p:nvPr/>
        </p:nvSpPr>
        <p:spPr>
          <a:xfrm>
            <a:off x="7479792" y="2194560"/>
            <a:ext cx="91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/>
          </a:p>
        </p:txBody>
      </p:sp>
      <p:sp>
        <p:nvSpPr>
          <p:cNvPr id="47" name="Shape 45"/>
          <p:cNvSpPr/>
          <p:nvPr/>
        </p:nvSpPr>
        <p:spPr>
          <a:xfrm>
            <a:off x="7571232" y="1097280"/>
            <a:ext cx="1371600" cy="3794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8E8"/>
            </a:solidFill>
            <a:prstDash val="solid"/>
          </a:ln>
          <a:effectLst>
            <a:outerShdw blurRad="63500" dist="25400" dir="8100000" algn="bl" rotWithShape="0">
              <a:srgbClr val="1A1D2E">
                <a:alpha val="7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7571232" y="1097280"/>
            <a:ext cx="1371600" cy="54864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571232" y="118872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</a:t>
            </a:r>
            <a:endParaRPr lang="en-US" sz="2400"/>
          </a:p>
        </p:txBody>
      </p:sp>
      <p:sp>
        <p:nvSpPr>
          <p:cNvPr id="50" name="Shape 48"/>
          <p:cNvSpPr/>
          <p:nvPr/>
        </p:nvSpPr>
        <p:spPr>
          <a:xfrm>
            <a:off x="7882128" y="2157984"/>
            <a:ext cx="749808" cy="475488"/>
          </a:xfrm>
          <a:prstGeom prst="ellipse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882128" y="2157984"/>
            <a:ext cx="7498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200"/>
          </a:p>
        </p:txBody>
      </p:sp>
      <p:sp>
        <p:nvSpPr>
          <p:cNvPr id="52" name="Text 50"/>
          <p:cNvSpPr/>
          <p:nvPr/>
        </p:nvSpPr>
        <p:spPr>
          <a:xfrm>
            <a:off x="7616952" y="2724912"/>
            <a:ext cx="1280160" cy="4572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1A1D2E"/>
                </a:solidFill>
                <a:latin typeface="Calibri"/>
                <a:ea typeface="Calibri"/>
                <a:cs typeface="Calibri"/>
              </a:rPr>
              <a:t>Generation</a:t>
            </a:r>
            <a:endParaRPr lang="en-US" sz="1100">
              <a:latin typeface="Calibri"/>
              <a:ea typeface="Calibri"/>
              <a:cs typeface="Calibri"/>
            </a:endParaRPr>
          </a:p>
        </p:txBody>
      </p:sp>
      <p:sp>
        <p:nvSpPr>
          <p:cNvPr id="53" name="Text 51"/>
          <p:cNvSpPr/>
          <p:nvPr/>
        </p:nvSpPr>
        <p:spPr>
          <a:xfrm>
            <a:off x="7616952" y="3218688"/>
            <a:ext cx="1280160" cy="15544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/>
            <a:r>
              <a:rPr lang="en-US" sz="1000">
                <a:solidFill>
                  <a:srgbClr val="4A5068"/>
                </a:solidFill>
                <a:ea typeface="+mn-lt"/>
                <a:cs typeface="+mn-lt"/>
              </a:rPr>
              <a:t>Generate structured response</a:t>
            </a:r>
            <a:endParaRPr lang="en-US" sz="1000"/>
          </a:p>
          <a:p>
            <a:pPr marL="0" indent="0" algn="ctr">
              <a:buNone/>
            </a:pPr>
            <a:endParaRPr lang="en-US" sz="850" dirty="0">
              <a:solidFill>
                <a:srgbClr val="4A5068"/>
              </a:solidFill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chemeClr val="accent4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219456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900" b="1" kern="0" spc="300">
                <a:solidFill>
                  <a:schemeClr val="accent4"/>
                </a:solidFill>
                <a:latin typeface="Calibri"/>
                <a:ea typeface="Calibri"/>
                <a:cs typeface="Calibri"/>
              </a:rPr>
              <a:t>SLIDE 05  —  SOLUTION OVERVIEW</a:t>
            </a:r>
            <a:endParaRPr lang="en-US" sz="900">
              <a:solidFill>
                <a:schemeClr val="accent4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402336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1A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Overview</a:t>
            </a:r>
            <a:endParaRPr lang="en-US" sz="260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8229600" cy="27432"/>
          </a:xfrm>
          <a:prstGeom prst="rect">
            <a:avLst/>
          </a:prstGeom>
          <a:solidFill>
            <a:schemeClr val="accent4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115568"/>
            <a:ext cx="8229600" cy="475488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1115568"/>
            <a:ext cx="80101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Cloud-Deployed RAG System — PDFs + Web Sources</a:t>
            </a:r>
            <a:endParaRPr lang="en-US" sz="1400"/>
          </a:p>
        </p:txBody>
      </p:sp>
      <p:sp>
        <p:nvSpPr>
          <p:cNvPr id="8" name="Shape 6"/>
          <p:cNvSpPr/>
          <p:nvPr/>
        </p:nvSpPr>
        <p:spPr>
          <a:xfrm>
            <a:off x="457200" y="1755648"/>
            <a:ext cx="2651760" cy="1965960"/>
          </a:xfrm>
          <a:prstGeom prst="rect">
            <a:avLst/>
          </a:prstGeom>
          <a:solidFill>
            <a:srgbClr val="F4F6FB"/>
          </a:solidFill>
          <a:ln w="19050">
            <a:solidFill>
              <a:srgbClr val="4F46E5"/>
            </a:solidFill>
            <a:prstDash val="solid"/>
          </a:ln>
          <a:effectLst>
            <a:outerShdw blurRad="63500" dist="25400" dir="8100000" algn="bl" rotWithShape="0">
              <a:srgbClr val="1A1D2E">
                <a:alpha val="7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755648"/>
            <a:ext cx="2651760" cy="54864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865376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</a:t>
            </a:r>
            <a:endParaRPr lang="en-US" sz="2600"/>
          </a:p>
        </p:txBody>
      </p:sp>
      <p:sp>
        <p:nvSpPr>
          <p:cNvPr id="11" name="Text 9"/>
          <p:cNvSpPr/>
          <p:nvPr/>
        </p:nvSpPr>
        <p:spPr>
          <a:xfrm>
            <a:off x="548640" y="2450592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>
                <a:solidFill>
                  <a:srgbClr val="1A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 Ingestion</a:t>
            </a:r>
            <a:endParaRPr lang="en-US" sz="1250"/>
          </a:p>
        </p:txBody>
      </p:sp>
      <p:sp>
        <p:nvSpPr>
          <p:cNvPr id="12" name="Text 10"/>
          <p:cNvSpPr/>
          <p:nvPr/>
        </p:nvSpPr>
        <p:spPr>
          <a:xfrm>
            <a:off x="548640" y="2798064"/>
            <a:ext cx="2468880" cy="84124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/>
            <a:r>
              <a:rPr lang="en-US" sz="950">
                <a:solidFill>
                  <a:srgbClr val="4A5068"/>
                </a:solidFill>
                <a:ea typeface="+mn-lt"/>
                <a:cs typeface="+mn-lt"/>
              </a:rPr>
              <a:t>Loads PDFs from 5 telecom domain folders AND scrapes live TM Forum + ServiceNow web pages.</a:t>
            </a:r>
            <a:endParaRPr lang="en-US" sz="950">
              <a:solidFill>
                <a:srgbClr val="000000"/>
              </a:solidFill>
              <a:ea typeface="Calibri"/>
              <a:cs typeface="Calibri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3246120" y="1755648"/>
            <a:ext cx="2651760" cy="1965960"/>
          </a:xfrm>
          <a:prstGeom prst="rect">
            <a:avLst/>
          </a:prstGeom>
          <a:solidFill>
            <a:srgbClr val="F4F6FB"/>
          </a:solidFill>
          <a:ln w="19050">
            <a:solidFill>
              <a:srgbClr val="0D9488"/>
            </a:solidFill>
            <a:prstDash val="solid"/>
          </a:ln>
          <a:effectLst>
            <a:outerShdw blurRad="63500" dist="25400" dir="8100000" algn="bl" rotWithShape="0">
              <a:srgbClr val="1A1D2E">
                <a:alpha val="7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46120" y="1755648"/>
            <a:ext cx="265176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46120" y="1865376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🗃️</a:t>
            </a:r>
            <a:endParaRPr lang="en-US" sz="2600"/>
          </a:p>
        </p:txBody>
      </p:sp>
      <p:sp>
        <p:nvSpPr>
          <p:cNvPr id="16" name="Text 14"/>
          <p:cNvSpPr/>
          <p:nvPr/>
        </p:nvSpPr>
        <p:spPr>
          <a:xfrm>
            <a:off x="3337560" y="2450592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>
                <a:solidFill>
                  <a:srgbClr val="1A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Pinecone Vector DB</a:t>
            </a:r>
            <a:endParaRPr lang="en-US" sz="1250"/>
          </a:p>
        </p:txBody>
      </p:sp>
      <p:sp>
        <p:nvSpPr>
          <p:cNvPr id="17" name="Text 15"/>
          <p:cNvSpPr/>
          <p:nvPr/>
        </p:nvSpPr>
        <p:spPr>
          <a:xfrm>
            <a:off x="3337560" y="2798064"/>
            <a:ext cx="246888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80">
                <a:solidFill>
                  <a:srgbClr val="4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content — PDF and web — is chunked, embedded, and stored in a single cloud vector index.</a:t>
            </a:r>
            <a:endParaRPr lang="en-US" sz="980"/>
          </a:p>
        </p:txBody>
      </p:sp>
      <p:sp>
        <p:nvSpPr>
          <p:cNvPr id="18" name="Shape 16"/>
          <p:cNvSpPr/>
          <p:nvPr/>
        </p:nvSpPr>
        <p:spPr>
          <a:xfrm>
            <a:off x="6035040" y="1755648"/>
            <a:ext cx="2651760" cy="1965960"/>
          </a:xfrm>
          <a:prstGeom prst="rect">
            <a:avLst/>
          </a:prstGeom>
          <a:solidFill>
            <a:srgbClr val="F4F6FB"/>
          </a:solidFill>
          <a:ln w="19050">
            <a:solidFill>
              <a:srgbClr val="0891B2"/>
            </a:solidFill>
            <a:prstDash val="solid"/>
          </a:ln>
          <a:effectLst>
            <a:outerShdw blurRad="63500" dist="25400" dir="8100000" algn="bl" rotWithShape="0">
              <a:srgbClr val="1A1D2E">
                <a:alpha val="7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035040" y="1755648"/>
            <a:ext cx="2651760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035040" y="1865376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</a:t>
            </a:r>
            <a:endParaRPr lang="en-US" sz="2600"/>
          </a:p>
        </p:txBody>
      </p:sp>
      <p:sp>
        <p:nvSpPr>
          <p:cNvPr id="21" name="Text 19"/>
          <p:cNvSpPr/>
          <p:nvPr/>
        </p:nvSpPr>
        <p:spPr>
          <a:xfrm>
            <a:off x="6126480" y="2450592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>
                <a:solidFill>
                  <a:srgbClr val="1A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LLM</a:t>
            </a:r>
            <a:endParaRPr lang="en-US" sz="1250"/>
          </a:p>
        </p:txBody>
      </p:sp>
      <p:sp>
        <p:nvSpPr>
          <p:cNvPr id="22" name="Text 20"/>
          <p:cNvSpPr/>
          <p:nvPr/>
        </p:nvSpPr>
        <p:spPr>
          <a:xfrm>
            <a:off x="6126480" y="2798064"/>
            <a:ext cx="2468880" cy="84124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sz="950">
                <a:solidFill>
                  <a:srgbClr val="4A5068"/>
                </a:solidFill>
                <a:latin typeface="Calibri"/>
                <a:ea typeface="Calibri"/>
                <a:cs typeface="Calibri"/>
              </a:rPr>
              <a:t>llama-3.3-70b-instant via </a:t>
            </a:r>
            <a:r>
              <a:rPr lang="en-US" sz="950" err="1">
                <a:solidFill>
                  <a:srgbClr val="4A5068"/>
                </a:solidFill>
                <a:latin typeface="Calibri"/>
                <a:ea typeface="Calibri"/>
                <a:cs typeface="Calibri"/>
              </a:rPr>
              <a:t>Groq</a:t>
            </a:r>
            <a:r>
              <a:rPr lang="en-US" sz="950">
                <a:solidFill>
                  <a:srgbClr val="4A5068"/>
                </a:solidFill>
                <a:latin typeface="Calibri"/>
                <a:ea typeface="Calibri"/>
                <a:cs typeface="Calibri"/>
              </a:rPr>
              <a:t> API generates fast, structured, architecture-aware answers.</a:t>
            </a:r>
            <a:endParaRPr lang="en-US" sz="950">
              <a:latin typeface="Calibri"/>
              <a:ea typeface="Calibri"/>
              <a:cs typeface="Calibri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548640" y="3886200"/>
            <a:ext cx="1554480" cy="274320"/>
          </a:xfrm>
          <a:prstGeom prst="roundRect">
            <a:avLst>
              <a:gd name="adj" fmla="val 16667"/>
            </a:avLst>
          </a:prstGeom>
          <a:solidFill>
            <a:srgbClr val="059669">
              <a:alpha val="12000"/>
            </a:srgbClr>
          </a:solidFill>
          <a:ln w="12700">
            <a:solidFill>
              <a:srgbClr val="059669">
                <a:alpha val="4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388620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fresh</a:t>
            </a:r>
            <a:endParaRPr lang="en-US" sz="900"/>
          </a:p>
        </p:txBody>
      </p:sp>
      <p:sp>
        <p:nvSpPr>
          <p:cNvPr id="25" name="Shape 23"/>
          <p:cNvSpPr/>
          <p:nvPr/>
        </p:nvSpPr>
        <p:spPr>
          <a:xfrm>
            <a:off x="2240280" y="3886200"/>
            <a:ext cx="1554480" cy="274320"/>
          </a:xfrm>
          <a:prstGeom prst="roundRect">
            <a:avLst>
              <a:gd name="adj" fmla="val 16667"/>
            </a:avLst>
          </a:prstGeom>
          <a:solidFill>
            <a:srgbClr val="0D9488">
              <a:alpha val="12000"/>
            </a:srgbClr>
          </a:solidFill>
          <a:ln w="12700">
            <a:solidFill>
              <a:srgbClr val="0D9488">
                <a:alpha val="4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240280" y="388620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scalable</a:t>
            </a:r>
            <a:endParaRPr lang="en-US" sz="900"/>
          </a:p>
        </p:txBody>
      </p:sp>
      <p:sp>
        <p:nvSpPr>
          <p:cNvPr id="27" name="Shape 25"/>
          <p:cNvSpPr/>
          <p:nvPr/>
        </p:nvSpPr>
        <p:spPr>
          <a:xfrm>
            <a:off x="3931920" y="3886200"/>
            <a:ext cx="1463040" cy="274320"/>
          </a:xfrm>
          <a:prstGeom prst="roundRect">
            <a:avLst>
              <a:gd name="adj" fmla="val 16667"/>
            </a:avLst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40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931920" y="38862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inference</a:t>
            </a:r>
            <a:endParaRPr lang="en-US" sz="900"/>
          </a:p>
        </p:txBody>
      </p:sp>
      <p:sp>
        <p:nvSpPr>
          <p:cNvPr id="29" name="Shape 27"/>
          <p:cNvSpPr/>
          <p:nvPr/>
        </p:nvSpPr>
        <p:spPr>
          <a:xfrm>
            <a:off x="662583" y="4500563"/>
            <a:ext cx="8229600" cy="475488"/>
          </a:xfrm>
          <a:prstGeom prst="rect">
            <a:avLst/>
          </a:prstGeom>
          <a:solidFill>
            <a:srgbClr val="D97706">
              <a:alpha val="9000"/>
            </a:srgbClr>
          </a:solidFill>
          <a:ln w="12700">
            <a:solidFill>
              <a:srgbClr val="D97706">
                <a:alpha val="25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99743" y="4500563"/>
            <a:ext cx="7955280" cy="47548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D97706"/>
                </a:solidFill>
                <a:latin typeface="Calibri"/>
                <a:ea typeface="Calibri"/>
                <a:cs typeface="Calibri"/>
              </a:rPr>
              <a:t>  Outcome:  </a:t>
            </a:r>
            <a:r>
              <a:rPr lang="en-US" sz="1150">
                <a:solidFill>
                  <a:srgbClr val="4A5068"/>
                </a:solidFill>
                <a:latin typeface="Calibri"/>
                <a:ea typeface="Calibri"/>
                <a:cs typeface="Calibri"/>
              </a:rPr>
              <a:t>Accurate, document-grounded answers combining static PDFs with live web knowledge — accessible anywhere.</a:t>
            </a:r>
            <a:endParaRPr lang="en-US" sz="1150"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06  —  TECHNOLOGY</a:t>
            </a:r>
            <a:endParaRPr lang="en-US" sz="900"/>
          </a:p>
        </p:txBody>
      </p:sp>
      <p:sp>
        <p:nvSpPr>
          <p:cNvPr id="4" name="Text 2"/>
          <p:cNvSpPr/>
          <p:nvPr/>
        </p:nvSpPr>
        <p:spPr>
          <a:xfrm>
            <a:off x="457200" y="402336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1A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260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8229600" cy="27432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115568"/>
            <a:ext cx="393192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8E8"/>
            </a:solidFill>
            <a:prstDash val="solid"/>
          </a:ln>
          <a:effectLst>
            <a:outerShdw blurRad="127000" dist="38100" dir="8100000" algn="bl" rotWithShape="0">
              <a:srgbClr val="1A1D2E">
                <a:alpha val="9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115568"/>
            <a:ext cx="3931920" cy="45720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1115568"/>
            <a:ext cx="3730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Core Stack</a:t>
            </a:r>
            <a:endParaRPr lang="en-US" sz="1400"/>
          </a:p>
        </p:txBody>
      </p:sp>
      <p:sp>
        <p:nvSpPr>
          <p:cNvPr id="9" name="Text 7"/>
          <p:cNvSpPr/>
          <p:nvPr/>
        </p:nvSpPr>
        <p:spPr>
          <a:xfrm>
            <a:off x="566928" y="1700784"/>
            <a:ext cx="3840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🗃️</a:t>
            </a:r>
            <a:endParaRPr lang="en-US" sz="1600"/>
          </a:p>
        </p:txBody>
      </p:sp>
      <p:sp>
        <p:nvSpPr>
          <p:cNvPr id="10" name="Text 8"/>
          <p:cNvSpPr/>
          <p:nvPr/>
        </p:nvSpPr>
        <p:spPr>
          <a:xfrm>
            <a:off x="987552" y="1700784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DB</a:t>
            </a:r>
            <a:endParaRPr lang="en-US" sz="950"/>
          </a:p>
        </p:txBody>
      </p:sp>
      <p:sp>
        <p:nvSpPr>
          <p:cNvPr id="11" name="Text 9"/>
          <p:cNvSpPr/>
          <p:nvPr/>
        </p:nvSpPr>
        <p:spPr>
          <a:xfrm>
            <a:off x="2121408" y="1700784"/>
            <a:ext cx="2103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1A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Pinecone (cloud)</a:t>
            </a:r>
            <a:endParaRPr lang="en-US" sz="1050"/>
          </a:p>
        </p:txBody>
      </p:sp>
      <p:sp>
        <p:nvSpPr>
          <p:cNvPr id="12" name="Text 10"/>
          <p:cNvSpPr/>
          <p:nvPr/>
        </p:nvSpPr>
        <p:spPr>
          <a:xfrm>
            <a:off x="566928" y="2157984"/>
            <a:ext cx="3840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</a:t>
            </a:r>
            <a:endParaRPr lang="en-US" sz="1600"/>
          </a:p>
        </p:txBody>
      </p:sp>
      <p:sp>
        <p:nvSpPr>
          <p:cNvPr id="13" name="Text 11"/>
          <p:cNvSpPr/>
          <p:nvPr/>
        </p:nvSpPr>
        <p:spPr>
          <a:xfrm>
            <a:off x="987552" y="2157984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</a:t>
            </a:r>
            <a:endParaRPr lang="en-US" sz="950"/>
          </a:p>
        </p:txBody>
      </p:sp>
      <p:sp>
        <p:nvSpPr>
          <p:cNvPr id="14" name="Text 12"/>
          <p:cNvSpPr/>
          <p:nvPr/>
        </p:nvSpPr>
        <p:spPr>
          <a:xfrm>
            <a:off x="2121408" y="2157984"/>
            <a:ext cx="2103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1A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HuggingFace MiniLM-L6-v2</a:t>
            </a:r>
            <a:endParaRPr lang="en-US" sz="1050"/>
          </a:p>
        </p:txBody>
      </p:sp>
      <p:sp>
        <p:nvSpPr>
          <p:cNvPr id="15" name="Text 13"/>
          <p:cNvSpPr/>
          <p:nvPr/>
        </p:nvSpPr>
        <p:spPr>
          <a:xfrm>
            <a:off x="566928" y="2615184"/>
            <a:ext cx="3840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</a:t>
            </a:r>
            <a:endParaRPr lang="en-US" sz="1600"/>
          </a:p>
        </p:txBody>
      </p:sp>
      <p:sp>
        <p:nvSpPr>
          <p:cNvPr id="16" name="Text 14"/>
          <p:cNvSpPr/>
          <p:nvPr/>
        </p:nvSpPr>
        <p:spPr>
          <a:xfrm>
            <a:off x="987552" y="2615184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950"/>
          </a:p>
        </p:txBody>
      </p:sp>
      <p:sp>
        <p:nvSpPr>
          <p:cNvPr id="17" name="Text 15"/>
          <p:cNvSpPr/>
          <p:nvPr/>
        </p:nvSpPr>
        <p:spPr>
          <a:xfrm>
            <a:off x="2121408" y="2615184"/>
            <a:ext cx="2103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1A1D2E"/>
                </a:solidFill>
                <a:latin typeface="Calibri"/>
                <a:ea typeface="Calibri"/>
                <a:cs typeface="Calibri"/>
              </a:rPr>
              <a:t>Groq  (llama-3.3-70b-instant)</a:t>
            </a:r>
            <a:endParaRPr lang="en-US" sz="1050">
              <a:latin typeface="Calibri"/>
              <a:ea typeface="Calibri"/>
              <a:cs typeface="Calibri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566928" y="3072384"/>
            <a:ext cx="3840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</a:t>
            </a:r>
            <a:endParaRPr lang="en-US" sz="1600"/>
          </a:p>
        </p:txBody>
      </p:sp>
      <p:sp>
        <p:nvSpPr>
          <p:cNvPr id="19" name="Text 17"/>
          <p:cNvSpPr/>
          <p:nvPr/>
        </p:nvSpPr>
        <p:spPr>
          <a:xfrm>
            <a:off x="987552" y="3072384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</a:t>
            </a:r>
            <a:endParaRPr lang="en-US" sz="950"/>
          </a:p>
        </p:txBody>
      </p:sp>
      <p:sp>
        <p:nvSpPr>
          <p:cNvPr id="20" name="Text 18"/>
          <p:cNvSpPr/>
          <p:nvPr/>
        </p:nvSpPr>
        <p:spPr>
          <a:xfrm>
            <a:off x="2121408" y="3072384"/>
            <a:ext cx="2103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1A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PDFs + Web URLs</a:t>
            </a:r>
            <a:endParaRPr lang="en-US" sz="1050"/>
          </a:p>
        </p:txBody>
      </p:sp>
      <p:sp>
        <p:nvSpPr>
          <p:cNvPr id="21" name="Text 19"/>
          <p:cNvSpPr/>
          <p:nvPr/>
        </p:nvSpPr>
        <p:spPr>
          <a:xfrm>
            <a:off x="566928" y="3529584"/>
            <a:ext cx="3840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🖥️</a:t>
            </a:r>
            <a:endParaRPr lang="en-US" sz="1600"/>
          </a:p>
        </p:txBody>
      </p:sp>
      <p:sp>
        <p:nvSpPr>
          <p:cNvPr id="22" name="Text 20"/>
          <p:cNvSpPr/>
          <p:nvPr/>
        </p:nvSpPr>
        <p:spPr>
          <a:xfrm>
            <a:off x="987552" y="3529584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</a:t>
            </a:r>
            <a:endParaRPr lang="en-US" sz="950"/>
          </a:p>
        </p:txBody>
      </p:sp>
      <p:sp>
        <p:nvSpPr>
          <p:cNvPr id="23" name="Text 21"/>
          <p:cNvSpPr/>
          <p:nvPr/>
        </p:nvSpPr>
        <p:spPr>
          <a:xfrm>
            <a:off x="2121408" y="3529584"/>
            <a:ext cx="2103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1A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1050"/>
          </a:p>
        </p:txBody>
      </p:sp>
      <p:sp>
        <p:nvSpPr>
          <p:cNvPr id="24" name="Text 22"/>
          <p:cNvSpPr/>
          <p:nvPr/>
        </p:nvSpPr>
        <p:spPr>
          <a:xfrm>
            <a:off x="566928" y="3986784"/>
            <a:ext cx="3840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🐍</a:t>
            </a:r>
            <a:endParaRPr lang="en-US" sz="1600"/>
          </a:p>
        </p:txBody>
      </p:sp>
      <p:sp>
        <p:nvSpPr>
          <p:cNvPr id="25" name="Text 23"/>
          <p:cNvSpPr/>
          <p:nvPr/>
        </p:nvSpPr>
        <p:spPr>
          <a:xfrm>
            <a:off x="987552" y="3986784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</a:t>
            </a:r>
            <a:endParaRPr lang="en-US" sz="950"/>
          </a:p>
        </p:txBody>
      </p:sp>
      <p:sp>
        <p:nvSpPr>
          <p:cNvPr id="26" name="Text 24"/>
          <p:cNvSpPr/>
          <p:nvPr/>
        </p:nvSpPr>
        <p:spPr>
          <a:xfrm>
            <a:off x="2121408" y="3986784"/>
            <a:ext cx="2103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1A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3.11</a:t>
            </a:r>
            <a:endParaRPr lang="en-US" sz="1050"/>
          </a:p>
        </p:txBody>
      </p:sp>
      <p:sp>
        <p:nvSpPr>
          <p:cNvPr id="27" name="Shape 25"/>
          <p:cNvSpPr/>
          <p:nvPr/>
        </p:nvSpPr>
        <p:spPr>
          <a:xfrm>
            <a:off x="4572000" y="1115568"/>
            <a:ext cx="411480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8E8"/>
            </a:solidFill>
            <a:prstDash val="solid"/>
          </a:ln>
          <a:effectLst>
            <a:outerShdw blurRad="127000" dist="38100" dir="8100000" algn="bl" rotWithShape="0">
              <a:srgbClr val="1A1D2E">
                <a:alpha val="9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572000" y="1115568"/>
            <a:ext cx="4114800" cy="457200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681728" y="1115568"/>
            <a:ext cx="38953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Key Features</a:t>
            </a:r>
            <a:endParaRPr lang="en-US" sz="1400"/>
          </a:p>
        </p:txBody>
      </p:sp>
      <p:sp>
        <p:nvSpPr>
          <p:cNvPr id="30" name="Shape 28"/>
          <p:cNvSpPr/>
          <p:nvPr/>
        </p:nvSpPr>
        <p:spPr>
          <a:xfrm>
            <a:off x="4681728" y="1810512"/>
            <a:ext cx="91440" cy="9144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46320" y="1719072"/>
            <a:ext cx="37216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4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PDFs + scraped URLs as knowledge base</a:t>
            </a:r>
            <a:endParaRPr lang="en-US" sz="1100"/>
          </a:p>
        </p:txBody>
      </p:sp>
      <p:sp>
        <p:nvSpPr>
          <p:cNvPr id="32" name="Shape 30"/>
          <p:cNvSpPr/>
          <p:nvPr/>
        </p:nvSpPr>
        <p:spPr>
          <a:xfrm>
            <a:off x="4681728" y="2304288"/>
            <a:ext cx="91440" cy="9144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46320" y="2212848"/>
            <a:ext cx="37216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4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Ensures accurate, grounded answers</a:t>
            </a:r>
            <a:endParaRPr lang="en-US" sz="1100"/>
          </a:p>
        </p:txBody>
      </p:sp>
      <p:sp>
        <p:nvSpPr>
          <p:cNvPr id="34" name="Shape 32"/>
          <p:cNvSpPr/>
          <p:nvPr/>
        </p:nvSpPr>
        <p:spPr>
          <a:xfrm>
            <a:off x="4681728" y="2798064"/>
            <a:ext cx="91440" cy="9144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46320" y="2706624"/>
            <a:ext cx="37216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4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Combines local docs with live web sources</a:t>
            </a:r>
            <a:endParaRPr lang="en-US" sz="1100"/>
          </a:p>
        </p:txBody>
      </p:sp>
      <p:sp>
        <p:nvSpPr>
          <p:cNvPr id="36" name="Shape 34"/>
          <p:cNvSpPr/>
          <p:nvPr/>
        </p:nvSpPr>
        <p:spPr>
          <a:xfrm>
            <a:off x="4681728" y="3291840"/>
            <a:ext cx="91440" cy="9144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46320" y="3200400"/>
            <a:ext cx="37216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4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deep telecom architecture queries</a:t>
            </a:r>
            <a:endParaRPr lang="en-US" sz="1100"/>
          </a:p>
        </p:txBody>
      </p:sp>
      <p:sp>
        <p:nvSpPr>
          <p:cNvPr id="41" name="Text 39"/>
          <p:cNvSpPr/>
          <p:nvPr/>
        </p:nvSpPr>
        <p:spPr>
          <a:xfrm>
            <a:off x="4846320" y="4187952"/>
            <a:ext cx="37216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>
              <a:solidFill>
                <a:srgbClr val="4A5068"/>
              </a:solidFill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07  —  SYSTEM ARCHITECTURE</a:t>
            </a:r>
            <a:endParaRPr lang="en-US" sz="900"/>
          </a:p>
        </p:txBody>
      </p:sp>
      <p:sp>
        <p:nvSpPr>
          <p:cNvPr id="4" name="Text 2"/>
          <p:cNvSpPr/>
          <p:nvPr/>
        </p:nvSpPr>
        <p:spPr>
          <a:xfrm>
            <a:off x="457200" y="402336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1A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Architecture</a:t>
            </a:r>
            <a:endParaRPr lang="en-US" sz="260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8229600" cy="27432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0" y="1097280"/>
            <a:ext cx="4572000" cy="548640"/>
          </a:xfrm>
          <a:prstGeom prst="roundRect">
            <a:avLst>
              <a:gd name="adj" fmla="val 13333"/>
            </a:avLst>
          </a:prstGeom>
          <a:solidFill>
            <a:srgbClr val="F4F6FB"/>
          </a:solidFill>
          <a:ln w="19050">
            <a:solidFill>
              <a:srgbClr val="4F46E5"/>
            </a:solidFill>
            <a:prstDash val="solid"/>
          </a:ln>
          <a:effectLst>
            <a:outerShdw blurRad="63500" dist="25400" dir="8100000" algn="bl" rotWithShape="0">
              <a:srgbClr val="1A1D2E">
                <a:alpha val="7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286000" y="1097280"/>
            <a:ext cx="64008" cy="54864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423160" y="109728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</a:t>
            </a:r>
            <a:endParaRPr lang="en-US" sz="1800"/>
          </a:p>
        </p:txBody>
      </p:sp>
      <p:sp>
        <p:nvSpPr>
          <p:cNvPr id="9" name="Text 7"/>
          <p:cNvSpPr/>
          <p:nvPr/>
        </p:nvSpPr>
        <p:spPr>
          <a:xfrm>
            <a:off x="2999232" y="109728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A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Query  →  Streamlit UI</a:t>
            </a:r>
            <a:endParaRPr lang="en-US" sz="1300"/>
          </a:p>
        </p:txBody>
      </p:sp>
      <p:sp>
        <p:nvSpPr>
          <p:cNvPr id="10" name="Text 8"/>
          <p:cNvSpPr/>
          <p:nvPr/>
        </p:nvSpPr>
        <p:spPr>
          <a:xfrm>
            <a:off x="4315968" y="1645920"/>
            <a:ext cx="51206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/>
          </a:p>
        </p:txBody>
      </p:sp>
      <p:sp>
        <p:nvSpPr>
          <p:cNvPr id="11" name="Shape 9"/>
          <p:cNvSpPr/>
          <p:nvPr/>
        </p:nvSpPr>
        <p:spPr>
          <a:xfrm>
            <a:off x="2286000" y="1865376"/>
            <a:ext cx="4572000" cy="548640"/>
          </a:xfrm>
          <a:prstGeom prst="roundRect">
            <a:avLst>
              <a:gd name="adj" fmla="val 13333"/>
            </a:avLst>
          </a:prstGeom>
          <a:solidFill>
            <a:srgbClr val="F4F6FB"/>
          </a:solidFill>
          <a:ln w="19050">
            <a:solidFill>
              <a:srgbClr val="0D9488"/>
            </a:solidFill>
            <a:prstDash val="solid"/>
          </a:ln>
          <a:effectLst>
            <a:outerShdw blurRad="63500" dist="25400" dir="8100000" algn="bl" rotWithShape="0">
              <a:srgbClr val="1A1D2E">
                <a:alpha val="7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286000" y="1865376"/>
            <a:ext cx="64008" cy="5486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423160" y="1865376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</a:t>
            </a:r>
            <a:endParaRPr lang="en-US" sz="1800"/>
          </a:p>
        </p:txBody>
      </p:sp>
      <p:sp>
        <p:nvSpPr>
          <p:cNvPr id="14" name="Text 12"/>
          <p:cNvSpPr/>
          <p:nvPr/>
        </p:nvSpPr>
        <p:spPr>
          <a:xfrm>
            <a:off x="2999232" y="1865376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A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Retriever  (Pinecone)</a:t>
            </a:r>
            <a:endParaRPr lang="en-US" sz="1300"/>
          </a:p>
        </p:txBody>
      </p:sp>
      <p:sp>
        <p:nvSpPr>
          <p:cNvPr id="15" name="Text 13"/>
          <p:cNvSpPr/>
          <p:nvPr/>
        </p:nvSpPr>
        <p:spPr>
          <a:xfrm>
            <a:off x="4315968" y="2414016"/>
            <a:ext cx="51206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/>
          </a:p>
        </p:txBody>
      </p:sp>
      <p:sp>
        <p:nvSpPr>
          <p:cNvPr id="16" name="Shape 14"/>
          <p:cNvSpPr/>
          <p:nvPr/>
        </p:nvSpPr>
        <p:spPr>
          <a:xfrm>
            <a:off x="2286000" y="2633472"/>
            <a:ext cx="4572000" cy="548640"/>
          </a:xfrm>
          <a:prstGeom prst="roundRect">
            <a:avLst>
              <a:gd name="adj" fmla="val 13333"/>
            </a:avLst>
          </a:prstGeom>
          <a:solidFill>
            <a:srgbClr val="F4F6FB"/>
          </a:solidFill>
          <a:ln w="19050">
            <a:solidFill>
              <a:srgbClr val="D97706"/>
            </a:solidFill>
            <a:prstDash val="solid"/>
          </a:ln>
          <a:effectLst>
            <a:outerShdw blurRad="63500" dist="25400" dir="8100000" algn="bl" rotWithShape="0">
              <a:srgbClr val="1A1D2E">
                <a:alpha val="7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286000" y="2633472"/>
            <a:ext cx="64008" cy="54864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423160" y="2633472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</a:t>
            </a:r>
            <a:endParaRPr lang="en-US" sz="1800"/>
          </a:p>
        </p:txBody>
      </p:sp>
      <p:sp>
        <p:nvSpPr>
          <p:cNvPr id="19" name="Text 17"/>
          <p:cNvSpPr/>
          <p:nvPr/>
        </p:nvSpPr>
        <p:spPr>
          <a:xfrm>
            <a:off x="2999232" y="2633472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A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Relevant PDF + Web Chunks</a:t>
            </a:r>
            <a:endParaRPr lang="en-US" sz="1300"/>
          </a:p>
        </p:txBody>
      </p:sp>
      <p:sp>
        <p:nvSpPr>
          <p:cNvPr id="20" name="Text 18"/>
          <p:cNvSpPr/>
          <p:nvPr/>
        </p:nvSpPr>
        <p:spPr>
          <a:xfrm>
            <a:off x="4315968" y="3182112"/>
            <a:ext cx="51206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/>
          </a:p>
        </p:txBody>
      </p:sp>
      <p:sp>
        <p:nvSpPr>
          <p:cNvPr id="21" name="Shape 19"/>
          <p:cNvSpPr/>
          <p:nvPr/>
        </p:nvSpPr>
        <p:spPr>
          <a:xfrm>
            <a:off x="2286000" y="3401568"/>
            <a:ext cx="4572000" cy="548640"/>
          </a:xfrm>
          <a:prstGeom prst="roundRect">
            <a:avLst>
              <a:gd name="adj" fmla="val 13333"/>
            </a:avLst>
          </a:prstGeom>
          <a:solidFill>
            <a:srgbClr val="F4F6FB"/>
          </a:solidFill>
          <a:ln w="19050">
            <a:solidFill>
              <a:srgbClr val="0891B2"/>
            </a:solidFill>
            <a:prstDash val="solid"/>
          </a:ln>
          <a:effectLst>
            <a:outerShdw blurRad="63500" dist="25400" dir="8100000" algn="bl" rotWithShape="0">
              <a:srgbClr val="1A1D2E">
                <a:alpha val="7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286000" y="3401568"/>
            <a:ext cx="64008" cy="5486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423160" y="3401568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</a:t>
            </a:r>
            <a:endParaRPr lang="en-US" sz="1800"/>
          </a:p>
        </p:txBody>
      </p:sp>
      <p:sp>
        <p:nvSpPr>
          <p:cNvPr id="24" name="Text 22"/>
          <p:cNvSpPr/>
          <p:nvPr/>
        </p:nvSpPr>
        <p:spPr>
          <a:xfrm>
            <a:off x="2999232" y="3401568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 err="1">
                <a:solidFill>
                  <a:srgbClr val="1A1D2E"/>
                </a:solidFill>
                <a:latin typeface="Calibri"/>
                <a:ea typeface="Calibri"/>
                <a:cs typeface="Calibri"/>
              </a:rPr>
              <a:t>Groq</a:t>
            </a:r>
            <a:r>
              <a:rPr lang="en-US" sz="1300" b="1" dirty="0">
                <a:solidFill>
                  <a:srgbClr val="1A1D2E"/>
                </a:solidFill>
                <a:latin typeface="Calibri"/>
                <a:ea typeface="Calibri"/>
                <a:cs typeface="Calibri"/>
              </a:rPr>
              <a:t> LLM  (llama-3.3-70b-instant)</a:t>
            </a:r>
            <a:endParaRPr lang="en-US" sz="1300" dirty="0">
              <a:latin typeface="Calibri"/>
              <a:ea typeface="Calibri"/>
              <a:cs typeface="Calibri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4315968" y="3950208"/>
            <a:ext cx="51206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/>
          </a:p>
        </p:txBody>
      </p:sp>
      <p:sp>
        <p:nvSpPr>
          <p:cNvPr id="26" name="Shape 24"/>
          <p:cNvSpPr/>
          <p:nvPr/>
        </p:nvSpPr>
        <p:spPr>
          <a:xfrm>
            <a:off x="2286000" y="4169664"/>
            <a:ext cx="4572000" cy="548640"/>
          </a:xfrm>
          <a:prstGeom prst="roundRect">
            <a:avLst>
              <a:gd name="adj" fmla="val 13333"/>
            </a:avLst>
          </a:prstGeom>
          <a:solidFill>
            <a:srgbClr val="F4F6FB"/>
          </a:solidFill>
          <a:ln w="19050">
            <a:solidFill>
              <a:srgbClr val="059669"/>
            </a:solidFill>
            <a:prstDash val="solid"/>
          </a:ln>
          <a:effectLst>
            <a:outerShdw blurRad="63500" dist="25400" dir="8100000" algn="bl" rotWithShape="0">
              <a:srgbClr val="1A1D2E">
                <a:alpha val="7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2286000" y="4169664"/>
            <a:ext cx="64008" cy="54864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423160" y="4169664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800"/>
          </a:p>
        </p:txBody>
      </p:sp>
      <p:sp>
        <p:nvSpPr>
          <p:cNvPr id="29" name="Text 27"/>
          <p:cNvSpPr/>
          <p:nvPr/>
        </p:nvSpPr>
        <p:spPr>
          <a:xfrm>
            <a:off x="2999232" y="4169664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A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Structured Answer</a:t>
            </a:r>
            <a:endParaRPr lang="en-US" sz="1300"/>
          </a:p>
        </p:txBody>
      </p:sp>
      <p:sp>
        <p:nvSpPr>
          <p:cNvPr id="30" name="Shape 28"/>
          <p:cNvSpPr/>
          <p:nvPr/>
        </p:nvSpPr>
        <p:spPr>
          <a:xfrm>
            <a:off x="457200" y="1097280"/>
            <a:ext cx="1664208" cy="3822192"/>
          </a:xfrm>
          <a:prstGeom prst="rect">
            <a:avLst/>
          </a:prstGeom>
          <a:solidFill>
            <a:srgbClr val="4F46E5">
              <a:alpha val="9000"/>
            </a:srgbClr>
          </a:solidFill>
          <a:ln w="12700">
            <a:solidFill>
              <a:srgbClr val="4F46E5">
                <a:alpha val="26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2920" y="118872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</a:t>
            </a:r>
            <a:endParaRPr lang="en-US" sz="1000"/>
          </a:p>
          <a:p>
            <a:pPr marL="0" indent="0" algn="ctr">
              <a:buNone/>
            </a:pPr>
            <a:r>
              <a:rPr lang="en-US" sz="1000" b="1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Capability</a:t>
            </a:r>
            <a:endParaRPr lang="en-US" sz="1000"/>
          </a:p>
        </p:txBody>
      </p:sp>
      <p:sp>
        <p:nvSpPr>
          <p:cNvPr id="32" name="Text 30"/>
          <p:cNvSpPr/>
          <p:nvPr/>
        </p:nvSpPr>
        <p:spPr>
          <a:xfrm>
            <a:off x="502920" y="1783080"/>
            <a:ext cx="1554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20">
                <a:solidFill>
                  <a:srgbClr val="4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Answers from retrieved PDF + web content only</a:t>
            </a:r>
            <a:endParaRPr lang="en-US" sz="920"/>
          </a:p>
        </p:txBody>
      </p:sp>
      <p:sp>
        <p:nvSpPr>
          <p:cNvPr id="33" name="Text 31"/>
          <p:cNvSpPr/>
          <p:nvPr/>
        </p:nvSpPr>
        <p:spPr>
          <a:xfrm>
            <a:off x="502920" y="2423160"/>
            <a:ext cx="1554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20">
                <a:solidFill>
                  <a:srgbClr val="4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Reduces hallucination significantly</a:t>
            </a:r>
            <a:endParaRPr lang="en-US" sz="920"/>
          </a:p>
        </p:txBody>
      </p:sp>
      <p:sp>
        <p:nvSpPr>
          <p:cNvPr id="34" name="Text 32"/>
          <p:cNvSpPr/>
          <p:nvPr/>
        </p:nvSpPr>
        <p:spPr>
          <a:xfrm>
            <a:off x="502920" y="3063240"/>
            <a:ext cx="1554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20">
                <a:solidFill>
                  <a:srgbClr val="4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Fast Groq inference, low latency</a:t>
            </a:r>
            <a:endParaRPr lang="en-US" sz="920"/>
          </a:p>
        </p:txBody>
      </p:sp>
      <p:sp>
        <p:nvSpPr>
          <p:cNvPr id="35" name="Text 33"/>
          <p:cNvSpPr/>
          <p:nvPr/>
        </p:nvSpPr>
        <p:spPr>
          <a:xfrm>
            <a:off x="502920" y="3703320"/>
            <a:ext cx="1554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20">
                <a:solidFill>
                  <a:srgbClr val="4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Cloud-scalable via Pinecone</a:t>
            </a:r>
            <a:endParaRPr lang="en-US" sz="92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08  —  DYNAMIC KNOWLEDGE BASE</a:t>
            </a:r>
            <a:endParaRPr lang="en-US" sz="900"/>
          </a:p>
        </p:txBody>
      </p:sp>
      <p:sp>
        <p:nvSpPr>
          <p:cNvPr id="4" name="Text 2"/>
          <p:cNvSpPr/>
          <p:nvPr/>
        </p:nvSpPr>
        <p:spPr>
          <a:xfrm>
            <a:off x="457200" y="402336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1A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Ingest: PDFs + Web Scraping</a:t>
            </a:r>
            <a:endParaRPr lang="en-US" sz="260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8229600" cy="27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115568"/>
            <a:ext cx="3931920" cy="3520440"/>
          </a:xfrm>
          <a:prstGeom prst="rect">
            <a:avLst/>
          </a:prstGeom>
          <a:solidFill>
            <a:srgbClr val="FFFFFF"/>
          </a:solidFill>
          <a:ln w="25400">
            <a:solidFill>
              <a:srgbClr val="0D9488"/>
            </a:solidFill>
            <a:prstDash val="solid"/>
          </a:ln>
          <a:effectLst>
            <a:outerShdw blurRad="127000" dist="38100" dir="8100000" algn="bl" rotWithShape="0">
              <a:srgbClr val="1A1D2E">
                <a:alpha val="9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115568"/>
            <a:ext cx="3931920" cy="47548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1115568"/>
            <a:ext cx="37307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Web Scraping  (ingest.py)</a:t>
            </a:r>
            <a:endParaRPr lang="en-US" sz="1300"/>
          </a:p>
        </p:txBody>
      </p:sp>
      <p:sp>
        <p:nvSpPr>
          <p:cNvPr id="9" name="Text 7"/>
          <p:cNvSpPr/>
          <p:nvPr/>
        </p:nvSpPr>
        <p:spPr>
          <a:xfrm>
            <a:off x="621792" y="169164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 added:</a:t>
            </a:r>
            <a:endParaRPr lang="en-US" sz="1050"/>
          </a:p>
        </p:txBody>
      </p:sp>
      <p:sp>
        <p:nvSpPr>
          <p:cNvPr id="10" name="Shape 8"/>
          <p:cNvSpPr/>
          <p:nvPr/>
        </p:nvSpPr>
        <p:spPr>
          <a:xfrm>
            <a:off x="621792" y="2103120"/>
            <a:ext cx="91440" cy="914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86384" y="2011680"/>
            <a:ext cx="34930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4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TM Forum Open APIs page</a:t>
            </a:r>
            <a:endParaRPr lang="en-US" sz="1050"/>
          </a:p>
        </p:txBody>
      </p:sp>
      <p:sp>
        <p:nvSpPr>
          <p:cNvPr id="12" name="Shape 10"/>
          <p:cNvSpPr/>
          <p:nvPr/>
        </p:nvSpPr>
        <p:spPr>
          <a:xfrm>
            <a:off x="621792" y="2487168"/>
            <a:ext cx="91440" cy="914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86384" y="2395728"/>
            <a:ext cx="34930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4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TM Forum GitHub repositories</a:t>
            </a:r>
            <a:endParaRPr lang="en-US" sz="1050"/>
          </a:p>
        </p:txBody>
      </p:sp>
      <p:sp>
        <p:nvSpPr>
          <p:cNvPr id="14" name="Shape 12"/>
          <p:cNvSpPr/>
          <p:nvPr/>
        </p:nvSpPr>
        <p:spPr>
          <a:xfrm>
            <a:off x="621792" y="2871216"/>
            <a:ext cx="91440" cy="914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86384" y="2779776"/>
            <a:ext cx="34930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4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ServiceNow Telecom docs</a:t>
            </a:r>
            <a:endParaRPr lang="en-US" sz="1050"/>
          </a:p>
        </p:txBody>
      </p:sp>
      <p:sp>
        <p:nvSpPr>
          <p:cNvPr id="16" name="Shape 14"/>
          <p:cNvSpPr/>
          <p:nvPr/>
        </p:nvSpPr>
        <p:spPr>
          <a:xfrm>
            <a:off x="621792" y="3255264"/>
            <a:ext cx="91440" cy="914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86384" y="3163824"/>
            <a:ext cx="34930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4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ServiceNow Network Inventory</a:t>
            </a:r>
            <a:endParaRPr lang="en-US" sz="1050"/>
          </a:p>
        </p:txBody>
      </p:sp>
      <p:sp>
        <p:nvSpPr>
          <p:cNvPr id="18" name="Text 16"/>
          <p:cNvSpPr/>
          <p:nvPr/>
        </p:nvSpPr>
        <p:spPr>
          <a:xfrm>
            <a:off x="621792" y="356616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works:</a:t>
            </a:r>
            <a:endParaRPr lang="en-US" sz="1050"/>
          </a:p>
        </p:txBody>
      </p:sp>
      <p:sp>
        <p:nvSpPr>
          <p:cNvPr id="19" name="Text 17"/>
          <p:cNvSpPr/>
          <p:nvPr/>
        </p:nvSpPr>
        <p:spPr>
          <a:xfrm>
            <a:off x="621792" y="3858768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4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requests + BeautifulSoup scrape each URL → stripped to plain text (20KB) → merged with PDF docs → chunked + embedded into Pinecone</a:t>
            </a:r>
            <a:endParaRPr lang="en-US" sz="950"/>
          </a:p>
        </p:txBody>
      </p:sp>
      <p:sp>
        <p:nvSpPr>
          <p:cNvPr id="20" name="Shape 18"/>
          <p:cNvSpPr/>
          <p:nvPr/>
        </p:nvSpPr>
        <p:spPr>
          <a:xfrm>
            <a:off x="4572000" y="1115568"/>
            <a:ext cx="4114800" cy="3520440"/>
          </a:xfrm>
          <a:prstGeom prst="rect">
            <a:avLst/>
          </a:prstGeom>
          <a:solidFill>
            <a:srgbClr val="FFFFFF"/>
          </a:solidFill>
          <a:ln w="25400">
            <a:solidFill>
              <a:srgbClr val="4F46E5"/>
            </a:solidFill>
            <a:prstDash val="solid"/>
          </a:ln>
          <a:effectLst>
            <a:outerShdw blurRad="127000" dist="38100" dir="8100000" algn="bl" rotWithShape="0">
              <a:srgbClr val="1A1D2E">
                <a:alpha val="9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72000" y="1115568"/>
            <a:ext cx="4114800" cy="475488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81728" y="1115568"/>
            <a:ext cx="38953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📁  5 Domain Folders</a:t>
            </a:r>
            <a:endParaRPr lang="en-US" sz="1300"/>
          </a:p>
        </p:txBody>
      </p:sp>
      <p:sp>
        <p:nvSpPr>
          <p:cNvPr id="23" name="Shape 21"/>
          <p:cNvSpPr/>
          <p:nvPr/>
        </p:nvSpPr>
        <p:spPr>
          <a:xfrm>
            <a:off x="4681728" y="1828800"/>
            <a:ext cx="91440" cy="9144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46320" y="1737360"/>
            <a:ext cx="37216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4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ETOM — Business process framework</a:t>
            </a:r>
            <a:endParaRPr lang="en-US" sz="1050"/>
          </a:p>
        </p:txBody>
      </p:sp>
      <p:sp>
        <p:nvSpPr>
          <p:cNvPr id="25" name="Shape 23"/>
          <p:cNvSpPr/>
          <p:nvPr/>
        </p:nvSpPr>
        <p:spPr>
          <a:xfrm>
            <a:off x="4681728" y="2286000"/>
            <a:ext cx="91440" cy="9144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46320" y="2194560"/>
            <a:ext cx="37216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4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 — Information data model</a:t>
            </a:r>
            <a:endParaRPr lang="en-US" sz="1050"/>
          </a:p>
        </p:txBody>
      </p:sp>
      <p:sp>
        <p:nvSpPr>
          <p:cNvPr id="27" name="Shape 25"/>
          <p:cNvSpPr/>
          <p:nvPr/>
        </p:nvSpPr>
        <p:spPr>
          <a:xfrm>
            <a:off x="4681728" y="2743200"/>
            <a:ext cx="91440" cy="9144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46320" y="2651760"/>
            <a:ext cx="37216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4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TMF_APIs — TM Forum Open APIs</a:t>
            </a:r>
            <a:endParaRPr lang="en-US" sz="1050"/>
          </a:p>
        </p:txBody>
      </p:sp>
      <p:sp>
        <p:nvSpPr>
          <p:cNvPr id="29" name="Shape 27"/>
          <p:cNvSpPr/>
          <p:nvPr/>
        </p:nvSpPr>
        <p:spPr>
          <a:xfrm>
            <a:off x="4681728" y="3200400"/>
            <a:ext cx="91440" cy="9144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46320" y="3108960"/>
            <a:ext cx="37216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4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— System design blueprints</a:t>
            </a:r>
            <a:endParaRPr lang="en-US" sz="1050"/>
          </a:p>
        </p:txBody>
      </p:sp>
      <p:sp>
        <p:nvSpPr>
          <p:cNvPr id="31" name="Shape 29"/>
          <p:cNvSpPr/>
          <p:nvPr/>
        </p:nvSpPr>
        <p:spPr>
          <a:xfrm>
            <a:off x="4681728" y="3657600"/>
            <a:ext cx="91440" cy="9144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46320" y="3566160"/>
            <a:ext cx="37216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4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ServiceNow — ITOM, CSM, network inventory</a:t>
            </a:r>
            <a:endParaRPr lang="en-US" sz="105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09  —  AUTOMATION</a:t>
            </a:r>
            <a:endParaRPr lang="en-US" sz="900"/>
          </a:p>
        </p:txBody>
      </p:sp>
      <p:sp>
        <p:nvSpPr>
          <p:cNvPr id="4" name="Text 2"/>
          <p:cNvSpPr/>
          <p:nvPr/>
        </p:nvSpPr>
        <p:spPr>
          <a:xfrm>
            <a:off x="457200" y="402336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1A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24-Hour Auto-Scheduler</a:t>
            </a:r>
            <a:endParaRPr lang="en-US" sz="260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8229600" cy="27432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115568"/>
            <a:ext cx="4114800" cy="3520440"/>
          </a:xfrm>
          <a:prstGeom prst="rect">
            <a:avLst/>
          </a:prstGeom>
          <a:solidFill>
            <a:srgbClr val="F4F6FB"/>
          </a:solidFill>
          <a:ln w="25400">
            <a:solidFill>
              <a:srgbClr val="4F46E5"/>
            </a:solidFill>
            <a:prstDash val="solid"/>
          </a:ln>
          <a:effectLst>
            <a:outerShdw blurRad="127000" dist="38100" dir="8100000" algn="bl" rotWithShape="0">
              <a:srgbClr val="1A1D2E">
                <a:alpha val="9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115568"/>
            <a:ext cx="4114800" cy="45720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1115568"/>
            <a:ext cx="38953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⏰  scheduler.py</a:t>
            </a:r>
            <a:endParaRPr lang="en-US" sz="1400"/>
          </a:p>
        </p:txBody>
      </p:sp>
      <p:sp>
        <p:nvSpPr>
          <p:cNvPr id="9" name="Shape 7"/>
          <p:cNvSpPr/>
          <p:nvPr/>
        </p:nvSpPr>
        <p:spPr>
          <a:xfrm>
            <a:off x="566928" y="1697082"/>
            <a:ext cx="3895344" cy="2012769"/>
          </a:xfrm>
          <a:prstGeom prst="rect">
            <a:avLst/>
          </a:prstGeom>
          <a:solidFill>
            <a:srgbClr val="1E1E2E"/>
          </a:solidFill>
          <a:ln w="12700">
            <a:solidFill>
              <a:srgbClr val="2D2D4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" y="1755648"/>
            <a:ext cx="3712464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6EE7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time</a:t>
            </a:r>
            <a:endParaRPr lang="en-US" sz="950"/>
          </a:p>
          <a:p>
            <a:pPr marL="0" indent="0">
              <a:buNone/>
            </a:pPr>
            <a:r>
              <a:rPr lang="en-US" sz="950">
                <a:solidFill>
                  <a:srgbClr val="6EE7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ingest import run_ingestion</a:t>
            </a:r>
            <a:endParaRPr lang="en-US" sz="950"/>
          </a:p>
          <a:p>
            <a:pPr marL="0" indent="0">
              <a:buNone/>
            </a:pPr>
            <a:endParaRPr lang="en-US" sz="950"/>
          </a:p>
          <a:p>
            <a:pPr marL="0" indent="0">
              <a:buNone/>
            </a:pPr>
            <a:r>
              <a:rPr lang="en-US" sz="950">
                <a:solidFill>
                  <a:srgbClr val="6EE7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 True:</a:t>
            </a:r>
            <a:endParaRPr lang="en-US" sz="950"/>
          </a:p>
          <a:p>
            <a:pPr marL="0" indent="0">
              <a:buNone/>
            </a:pPr>
            <a:r>
              <a:rPr lang="en-US" sz="950">
                <a:solidFill>
                  <a:srgbClr val="6EE7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try:</a:t>
            </a:r>
            <a:endParaRPr lang="en-US" sz="950"/>
          </a:p>
          <a:p>
            <a:pPr marL="0" indent="0">
              <a:buNone/>
            </a:pPr>
            <a:r>
              <a:rPr lang="en-US" sz="950">
                <a:solidFill>
                  <a:srgbClr val="6EE7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run_ingestion()</a:t>
            </a:r>
            <a:endParaRPr lang="en-US" sz="950"/>
          </a:p>
          <a:p>
            <a:pPr marL="0" indent="0">
              <a:buNone/>
            </a:pPr>
            <a:r>
              <a:rPr lang="en-US" sz="950">
                <a:solidFill>
                  <a:srgbClr val="6EE7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print('✅ Done')</a:t>
            </a:r>
            <a:endParaRPr lang="en-US" sz="950"/>
          </a:p>
          <a:p>
            <a:pPr marL="0" indent="0">
              <a:buNone/>
            </a:pPr>
            <a:r>
              <a:rPr lang="en-US" sz="950">
                <a:solidFill>
                  <a:srgbClr val="6EE7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except Exception as e:</a:t>
            </a:r>
            <a:endParaRPr lang="en-US" sz="950"/>
          </a:p>
          <a:p>
            <a:pPr marL="0" indent="0">
              <a:buNone/>
            </a:pPr>
            <a:r>
              <a:rPr lang="en-US" sz="950">
                <a:solidFill>
                  <a:srgbClr val="6EE7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print(f'❌ {e}')</a:t>
            </a:r>
            <a:endParaRPr lang="en-US" sz="950"/>
          </a:p>
          <a:p>
            <a:pPr marL="0" indent="0">
              <a:buNone/>
            </a:pPr>
            <a:r>
              <a:rPr lang="en-US" sz="950">
                <a:solidFill>
                  <a:srgbClr val="6EE7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time.sleep(86400)  # 24h</a:t>
            </a:r>
            <a:endParaRPr lang="en-US" sz="950"/>
          </a:p>
        </p:txBody>
      </p:sp>
      <p:sp>
        <p:nvSpPr>
          <p:cNvPr id="11" name="Shape 9"/>
          <p:cNvSpPr/>
          <p:nvPr/>
        </p:nvSpPr>
        <p:spPr>
          <a:xfrm>
            <a:off x="4754880" y="1115568"/>
            <a:ext cx="393192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8E8"/>
            </a:solidFill>
            <a:prstDash val="solid"/>
          </a:ln>
          <a:effectLst>
            <a:outerShdw blurRad="127000" dist="38100" dir="8100000" algn="bl" rotWithShape="0">
              <a:srgbClr val="1A1D2E">
                <a:alpha val="9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0" y="1115568"/>
            <a:ext cx="3931920" cy="457200"/>
          </a:xfrm>
          <a:prstGeom prst="rect">
            <a:avLst/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64608" y="1115568"/>
            <a:ext cx="37124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Key Benefits</a:t>
            </a:r>
            <a:endParaRPr lang="en-US" sz="1400"/>
          </a:p>
        </p:txBody>
      </p:sp>
      <p:sp>
        <p:nvSpPr>
          <p:cNvPr id="14" name="Shape 12"/>
          <p:cNvSpPr/>
          <p:nvPr/>
        </p:nvSpPr>
        <p:spPr>
          <a:xfrm>
            <a:off x="4864608" y="1792224"/>
            <a:ext cx="91440" cy="9144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0" y="1700784"/>
            <a:ext cx="3538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4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ingestion every 24 hours automatically</a:t>
            </a:r>
            <a:endParaRPr lang="en-US" sz="1100"/>
          </a:p>
        </p:txBody>
      </p:sp>
      <p:sp>
        <p:nvSpPr>
          <p:cNvPr id="16" name="Shape 14"/>
          <p:cNvSpPr/>
          <p:nvPr/>
        </p:nvSpPr>
        <p:spPr>
          <a:xfrm>
            <a:off x="4864608" y="2304288"/>
            <a:ext cx="91440" cy="9144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0" y="2212848"/>
            <a:ext cx="3538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4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Always-fresh combined web + PDF knowledge base</a:t>
            </a:r>
            <a:endParaRPr lang="en-US" sz="1100"/>
          </a:p>
        </p:txBody>
      </p:sp>
      <p:sp>
        <p:nvSpPr>
          <p:cNvPr id="18" name="Shape 16"/>
          <p:cNvSpPr/>
          <p:nvPr/>
        </p:nvSpPr>
        <p:spPr>
          <a:xfrm>
            <a:off x="4864608" y="2816352"/>
            <a:ext cx="91440" cy="9144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0" y="2724912"/>
            <a:ext cx="3538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4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Re-scrapes TM Forum &amp; ServiceNow pages daily</a:t>
            </a:r>
            <a:endParaRPr lang="en-US" sz="1100"/>
          </a:p>
        </p:txBody>
      </p:sp>
      <p:sp>
        <p:nvSpPr>
          <p:cNvPr id="20" name="Shape 18"/>
          <p:cNvSpPr/>
          <p:nvPr/>
        </p:nvSpPr>
        <p:spPr>
          <a:xfrm>
            <a:off x="4864608" y="3328416"/>
            <a:ext cx="91440" cy="9144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0" y="3236976"/>
            <a:ext cx="3538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4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handling with fallback logging</a:t>
            </a:r>
            <a:endParaRPr lang="en-US" sz="1100"/>
          </a:p>
        </p:txBody>
      </p:sp>
      <p:sp>
        <p:nvSpPr>
          <p:cNvPr id="22" name="Shape 20"/>
          <p:cNvSpPr/>
          <p:nvPr/>
        </p:nvSpPr>
        <p:spPr>
          <a:xfrm>
            <a:off x="4864608" y="3840480"/>
            <a:ext cx="91440" cy="9144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0" y="3749040"/>
            <a:ext cx="3538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4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manual re-ingestion required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AA13EEC-4539-2B4F-DA84-E10C31B3DA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4394B77A-1CF4-C37D-F07F-45BE222CC747}"/>
              </a:ext>
            </a:extLst>
          </p:cNvPr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165F586F-F244-6871-026B-C741BD9D18EE}"/>
              </a:ext>
            </a:extLst>
          </p:cNvPr>
          <p:cNvSpPr/>
          <p:nvPr/>
        </p:nvSpPr>
        <p:spPr>
          <a:xfrm>
            <a:off x="457200" y="201168"/>
            <a:ext cx="8229600" cy="219456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900" b="1" kern="0" spc="300">
                <a:solidFill>
                  <a:schemeClr val="accent1"/>
                </a:solidFill>
                <a:latin typeface="Calibri"/>
                <a:ea typeface="Calibri"/>
                <a:cs typeface="Calibri"/>
              </a:rPr>
              <a:t>SLIDE 10  —OPTIONAL</a:t>
            </a:r>
            <a:endParaRPr lang="en-US" sz="900">
              <a:solidFill>
                <a:schemeClr val="accen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F7A9084B-7988-820A-1E4C-E813C85B7D32}"/>
              </a:ext>
            </a:extLst>
          </p:cNvPr>
          <p:cNvSpPr/>
          <p:nvPr/>
        </p:nvSpPr>
        <p:spPr>
          <a:xfrm>
            <a:off x="457200" y="402336"/>
            <a:ext cx="8229600" cy="5029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2600" b="1">
                <a:solidFill>
                  <a:srgbClr val="1A1D2E"/>
                </a:solidFill>
                <a:ea typeface="+mn-lt"/>
                <a:cs typeface="+mn-lt"/>
              </a:rPr>
              <a:t>Local Setup (Optional)</a:t>
            </a:r>
            <a:endParaRPr lang="en-US" b="1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C5142A13-A1B1-390F-7DA2-D54BE4F4B72E}"/>
              </a:ext>
            </a:extLst>
          </p:cNvPr>
          <p:cNvSpPr/>
          <p:nvPr/>
        </p:nvSpPr>
        <p:spPr>
          <a:xfrm>
            <a:off x="457200" y="1005840"/>
            <a:ext cx="8229600" cy="27432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F372ADDF-090C-8BFF-9956-729C0E4D875D}"/>
              </a:ext>
            </a:extLst>
          </p:cNvPr>
          <p:cNvSpPr/>
          <p:nvPr/>
        </p:nvSpPr>
        <p:spPr>
          <a:xfrm>
            <a:off x="457200" y="1107038"/>
            <a:ext cx="4114800" cy="2820994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6A1454A1-01A8-C83F-5FF8-A098DDBEF33A}"/>
              </a:ext>
            </a:extLst>
          </p:cNvPr>
          <p:cNvSpPr/>
          <p:nvPr/>
        </p:nvSpPr>
        <p:spPr>
          <a:xfrm>
            <a:off x="457200" y="1107039"/>
            <a:ext cx="4114800" cy="482788"/>
          </a:xfrm>
          <a:prstGeom prst="rect">
            <a:avLst/>
          </a:prstGeom>
          <a:solidFill>
            <a:schemeClr val="accent1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01C28D48-7CFE-6BB5-4F68-0919DC29C646}"/>
              </a:ext>
            </a:extLst>
          </p:cNvPr>
          <p:cNvSpPr/>
          <p:nvPr/>
        </p:nvSpPr>
        <p:spPr>
          <a:xfrm>
            <a:off x="566928" y="1115568"/>
            <a:ext cx="38953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FFFFFF"/>
                </a:solidFill>
                <a:ea typeface="Calibri"/>
                <a:cs typeface="Calibri"/>
              </a:rPr>
              <a:t>Steps</a:t>
            </a:r>
            <a:endParaRPr lang="en-US" sz="1400" b="1" dirty="0">
              <a:solidFill>
                <a:srgbClr val="FFFFFF"/>
              </a:solidFill>
              <a:ea typeface="Calibri"/>
              <a:cs typeface="Calibri"/>
            </a:endParaRPr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9ED761F5-19FF-DB03-9714-094E67E29F3C}"/>
              </a:ext>
            </a:extLst>
          </p:cNvPr>
          <p:cNvSpPr/>
          <p:nvPr/>
        </p:nvSpPr>
        <p:spPr>
          <a:xfrm>
            <a:off x="4806059" y="1543261"/>
            <a:ext cx="3906330" cy="2368911"/>
          </a:xfrm>
          <a:prstGeom prst="rect">
            <a:avLst/>
          </a:prstGeom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811FB1D8-402D-0706-E439-A61CCE3C0F95}"/>
              </a:ext>
            </a:extLst>
          </p:cNvPr>
          <p:cNvSpPr/>
          <p:nvPr/>
        </p:nvSpPr>
        <p:spPr>
          <a:xfrm>
            <a:off x="4799528" y="1115568"/>
            <a:ext cx="3931920" cy="457200"/>
          </a:xfrm>
          <a:prstGeom prst="rect">
            <a:avLst/>
          </a:prstGeom>
          <a:solidFill>
            <a:srgbClr val="4F46E5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9D7BA722-2AFD-9CAB-DA44-A6D3B7305B69}"/>
              </a:ext>
            </a:extLst>
          </p:cNvPr>
          <p:cNvSpPr/>
          <p:nvPr/>
        </p:nvSpPr>
        <p:spPr>
          <a:xfrm>
            <a:off x="4864608" y="1115568"/>
            <a:ext cx="37124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Configuration</a:t>
            </a:r>
            <a:endParaRPr lang="en-US" sz="1400" b="1" dirty="0">
              <a:solidFill>
                <a:schemeClr val="bg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95DD8945-5F6D-5B4B-43B9-810FB1DA60C6}"/>
              </a:ext>
            </a:extLst>
          </p:cNvPr>
          <p:cNvSpPr/>
          <p:nvPr/>
        </p:nvSpPr>
        <p:spPr>
          <a:xfrm>
            <a:off x="4915787" y="1826343"/>
            <a:ext cx="91440" cy="9144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744AAEFF-9753-BFD8-173F-4759ED3758C2}"/>
              </a:ext>
            </a:extLst>
          </p:cNvPr>
          <p:cNvSpPr/>
          <p:nvPr/>
        </p:nvSpPr>
        <p:spPr>
          <a:xfrm>
            <a:off x="5072649" y="1614286"/>
            <a:ext cx="3513139" cy="7471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1100" dirty="0">
              <a:solidFill>
                <a:srgbClr val="4A5068"/>
              </a:solidFill>
              <a:latin typeface="Segoe UI"/>
              <a:ea typeface="Calibri"/>
              <a:cs typeface="Segoe UI"/>
            </a:endParaRPr>
          </a:p>
          <a:p>
            <a:r>
              <a:rPr lang="en-US" sz="1200">
                <a:solidFill>
                  <a:srgbClr val="4A5068"/>
                </a:solidFill>
                <a:latin typeface="Segoe UI"/>
                <a:ea typeface="Calibri"/>
                <a:cs typeface="Segoe UI"/>
              </a:rPr>
              <a:t>Required API Keys:</a:t>
            </a:r>
          </a:p>
          <a:p>
            <a:r>
              <a:rPr lang="en-US" sz="1200">
                <a:solidFill>
                  <a:srgbClr val="4A5068"/>
                </a:solidFill>
                <a:latin typeface="Segoe UI"/>
                <a:ea typeface="Calibri"/>
                <a:cs typeface="Segoe UI"/>
              </a:rPr>
              <a:t>GROQ_API_KEY </a:t>
            </a:r>
            <a:endParaRPr lang="en-US" sz="1200">
              <a:solidFill>
                <a:srgbClr val="000000"/>
              </a:solidFill>
              <a:latin typeface="Segoe UI"/>
              <a:ea typeface="Calibri"/>
              <a:cs typeface="Segoe UI"/>
            </a:endParaRPr>
          </a:p>
          <a:p>
            <a:r>
              <a:rPr lang="en-US" sz="1200">
                <a:solidFill>
                  <a:srgbClr val="4A5068"/>
                </a:solidFill>
                <a:latin typeface="Segoe UI"/>
                <a:ea typeface="Calibri"/>
                <a:cs typeface="Segoe UI"/>
              </a:rPr>
              <a:t>PINECONE_API_KEY</a:t>
            </a:r>
            <a:endParaRPr lang="en-US" sz="1200">
              <a:ea typeface="Calibri"/>
              <a:cs typeface="Calibri"/>
            </a:endParaRPr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12F45B4E-0CD1-6667-64D1-7DD73EA6CAD5}"/>
              </a:ext>
            </a:extLst>
          </p:cNvPr>
          <p:cNvSpPr/>
          <p:nvPr/>
        </p:nvSpPr>
        <p:spPr>
          <a:xfrm>
            <a:off x="5088909" y="2699049"/>
            <a:ext cx="3598436" cy="5424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4A5068"/>
                </a:solidFill>
                <a:latin typeface="Segoe UI"/>
                <a:ea typeface="Calibri"/>
                <a:cs typeface="Segoe UI"/>
              </a:rPr>
              <a:t>Set via: </a:t>
            </a:r>
            <a:endParaRPr lang="en-US" sz="1200">
              <a:solidFill>
                <a:srgbClr val="000000"/>
              </a:solidFill>
              <a:latin typeface="Segoe UI"/>
              <a:ea typeface="Calibri"/>
              <a:cs typeface="Segoe UI"/>
            </a:endParaRPr>
          </a:p>
          <a:p>
            <a:r>
              <a:rPr lang="en-US" sz="1200" dirty="0">
                <a:solidFill>
                  <a:srgbClr val="4A5068"/>
                </a:solidFill>
                <a:latin typeface="Segoe UI"/>
                <a:ea typeface="Calibri"/>
                <a:cs typeface="Segoe UI"/>
              </a:rPr>
              <a:t>.env (local) </a:t>
            </a:r>
            <a:endParaRPr lang="en-US" sz="1200">
              <a:solidFill>
                <a:srgbClr val="000000"/>
              </a:solidFill>
              <a:latin typeface="Segoe UI"/>
              <a:ea typeface="Calibri"/>
              <a:cs typeface="Segoe UI"/>
            </a:endParaRPr>
          </a:p>
          <a:p>
            <a:r>
              <a:rPr lang="en-US" sz="1200" dirty="0" err="1">
                <a:solidFill>
                  <a:srgbClr val="4A5068"/>
                </a:solidFill>
                <a:latin typeface="Segoe UI"/>
                <a:ea typeface="Calibri"/>
                <a:cs typeface="Segoe UI"/>
              </a:rPr>
              <a:t>Streamlit</a:t>
            </a:r>
            <a:r>
              <a:rPr lang="en-US" sz="1200" dirty="0">
                <a:solidFill>
                  <a:srgbClr val="4A5068"/>
                </a:solidFill>
                <a:latin typeface="Segoe UI"/>
                <a:ea typeface="Calibri"/>
                <a:cs typeface="Segoe UI"/>
              </a:rPr>
              <a:t> secrets (recommended)</a:t>
            </a:r>
            <a:endParaRPr lang="en-US" sz="1200">
              <a:ea typeface="Calibri"/>
              <a:cs typeface="Calibri"/>
            </a:endParaRPr>
          </a:p>
          <a:p>
            <a:pPr marL="0" indent="0">
              <a:buNone/>
            </a:pPr>
            <a:endParaRPr lang="en-US" sz="1100" dirty="0">
              <a:solidFill>
                <a:srgbClr val="4A5068"/>
              </a:solidFill>
              <a:ea typeface="Calibri"/>
              <a:cs typeface="Calibri"/>
            </a:endParaRPr>
          </a:p>
        </p:txBody>
      </p:sp>
      <p:sp>
        <p:nvSpPr>
          <p:cNvPr id="29" name="Shape 12">
            <a:extLst>
              <a:ext uri="{FF2B5EF4-FFF2-40B4-BE49-F238E27FC236}">
                <a16:creationId xmlns:a16="http://schemas.microsoft.com/office/drawing/2014/main" id="{8CA485EB-CA9B-9262-8876-DACA43FAC41D}"/>
              </a:ext>
            </a:extLst>
          </p:cNvPr>
          <p:cNvSpPr/>
          <p:nvPr/>
        </p:nvSpPr>
        <p:spPr>
          <a:xfrm>
            <a:off x="633802" y="1873524"/>
            <a:ext cx="91440" cy="9144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0" name="Text 13">
            <a:extLst>
              <a:ext uri="{FF2B5EF4-FFF2-40B4-BE49-F238E27FC236}">
                <a16:creationId xmlns:a16="http://schemas.microsoft.com/office/drawing/2014/main" id="{E0EFC7EE-C154-2229-748B-59A711A148C7}"/>
              </a:ext>
            </a:extLst>
          </p:cNvPr>
          <p:cNvSpPr/>
          <p:nvPr/>
        </p:nvSpPr>
        <p:spPr>
          <a:xfrm>
            <a:off x="790664" y="1839394"/>
            <a:ext cx="3538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>
                <a:solidFill>
                  <a:srgbClr val="4A5068"/>
                </a:solidFill>
                <a:latin typeface="Segoe UI"/>
                <a:ea typeface="Calibri" pitchFamily="34" charset="-122"/>
                <a:cs typeface="Segoe UI"/>
              </a:rPr>
              <a:t>Clone the repository</a:t>
            </a:r>
            <a:endParaRPr lang="en-US"/>
          </a:p>
          <a:p>
            <a:pPr marL="0" indent="0">
              <a:buNone/>
            </a:pPr>
            <a:endParaRPr lang="en-US" sz="1100" dirty="0">
              <a:solidFill>
                <a:srgbClr val="4A5068"/>
              </a:solidFill>
              <a:ea typeface="Calibri"/>
              <a:cs typeface="Calibri"/>
            </a:endParaRPr>
          </a:p>
        </p:txBody>
      </p:sp>
      <p:sp>
        <p:nvSpPr>
          <p:cNvPr id="31" name="Shape 14">
            <a:extLst>
              <a:ext uri="{FF2B5EF4-FFF2-40B4-BE49-F238E27FC236}">
                <a16:creationId xmlns:a16="http://schemas.microsoft.com/office/drawing/2014/main" id="{C9A2B557-4D66-E5BB-6954-05DC6B68DCC0}"/>
              </a:ext>
            </a:extLst>
          </p:cNvPr>
          <p:cNvSpPr/>
          <p:nvPr/>
        </p:nvSpPr>
        <p:spPr>
          <a:xfrm>
            <a:off x="633802" y="2212192"/>
            <a:ext cx="91440" cy="9144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2" name="Text 15">
            <a:extLst>
              <a:ext uri="{FF2B5EF4-FFF2-40B4-BE49-F238E27FC236}">
                <a16:creationId xmlns:a16="http://schemas.microsoft.com/office/drawing/2014/main" id="{91EFBEEE-D27E-2425-127A-58E30B106DFA}"/>
              </a:ext>
            </a:extLst>
          </p:cNvPr>
          <p:cNvSpPr/>
          <p:nvPr/>
        </p:nvSpPr>
        <p:spPr>
          <a:xfrm>
            <a:off x="806924" y="2258829"/>
            <a:ext cx="3538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>
                <a:solidFill>
                  <a:srgbClr val="4A5068"/>
                </a:solidFill>
                <a:latin typeface="Segoe UI"/>
                <a:ea typeface="Calibri"/>
                <a:cs typeface="Segoe UI"/>
              </a:rPr>
              <a:t>Install dependencies </a:t>
            </a:r>
            <a:endParaRPr lang="en-US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r>
              <a:rPr lang="en-US" sz="1100">
                <a:solidFill>
                  <a:srgbClr val="4A5068"/>
                </a:solidFill>
                <a:latin typeface="Segoe UI"/>
                <a:ea typeface="Calibri"/>
                <a:cs typeface="Segoe UI"/>
              </a:rPr>
              <a:t>pip install -r requirements.txt</a:t>
            </a:r>
            <a:endParaRPr lang="en-US">
              <a:ea typeface="Calibri"/>
              <a:cs typeface="Calibri"/>
            </a:endParaRPr>
          </a:p>
          <a:p>
            <a:endParaRPr lang="en-US" sz="1100" dirty="0">
              <a:solidFill>
                <a:srgbClr val="4A5068"/>
              </a:solidFill>
              <a:latin typeface="Segoe UI"/>
              <a:ea typeface="Calibri"/>
              <a:cs typeface="Segoe UI"/>
            </a:endParaRPr>
          </a:p>
        </p:txBody>
      </p:sp>
      <p:sp>
        <p:nvSpPr>
          <p:cNvPr id="33" name="Shape 16">
            <a:extLst>
              <a:ext uri="{FF2B5EF4-FFF2-40B4-BE49-F238E27FC236}">
                <a16:creationId xmlns:a16="http://schemas.microsoft.com/office/drawing/2014/main" id="{6A6AA8AC-48DD-50D4-AD64-D2BD83897C19}"/>
              </a:ext>
            </a:extLst>
          </p:cNvPr>
          <p:cNvSpPr/>
          <p:nvPr/>
        </p:nvSpPr>
        <p:spPr>
          <a:xfrm>
            <a:off x="633802" y="2697467"/>
            <a:ext cx="91440" cy="9144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4" name="Text 17">
            <a:extLst>
              <a:ext uri="{FF2B5EF4-FFF2-40B4-BE49-F238E27FC236}">
                <a16:creationId xmlns:a16="http://schemas.microsoft.com/office/drawing/2014/main" id="{F898ACC0-705B-BB9F-BF59-57C18CFD3ED5}"/>
              </a:ext>
            </a:extLst>
          </p:cNvPr>
          <p:cNvSpPr/>
          <p:nvPr/>
        </p:nvSpPr>
        <p:spPr>
          <a:xfrm>
            <a:off x="798394" y="2751435"/>
            <a:ext cx="3538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>
                <a:solidFill>
                  <a:srgbClr val="4A5068"/>
                </a:solidFill>
                <a:latin typeface="Segoe UI"/>
                <a:ea typeface="Calibri"/>
                <a:cs typeface="Segoe UI"/>
              </a:rPr>
              <a:t>Run ingestion (to build knowledge base) </a:t>
            </a:r>
            <a:endParaRPr lang="en-US">
              <a:solidFill>
                <a:srgbClr val="000000"/>
              </a:solidFill>
              <a:latin typeface="Calibri" panose="020F0502020204030204"/>
              <a:ea typeface="Calibri"/>
              <a:cs typeface="Calibri" panose="020F0502020204030204"/>
            </a:endParaRPr>
          </a:p>
          <a:p>
            <a:r>
              <a:rPr lang="en-US" sz="1100">
                <a:solidFill>
                  <a:srgbClr val="4A5068"/>
                </a:solidFill>
                <a:latin typeface="Segoe UI"/>
                <a:ea typeface="Calibri"/>
                <a:cs typeface="Segoe UI"/>
              </a:rPr>
              <a:t>python ingest.py</a:t>
            </a:r>
            <a:endParaRPr lang="en-US">
              <a:ea typeface="Calibri"/>
              <a:cs typeface="Calibri"/>
            </a:endParaRPr>
          </a:p>
          <a:p>
            <a:pPr marL="0" indent="0">
              <a:buNone/>
            </a:pPr>
            <a:endParaRPr lang="en-US" sz="1100" dirty="0">
              <a:solidFill>
                <a:srgbClr val="4A5068"/>
              </a:solidFill>
              <a:ea typeface="Calibri"/>
              <a:cs typeface="Calibri"/>
            </a:endParaRPr>
          </a:p>
        </p:txBody>
      </p:sp>
      <p:sp>
        <p:nvSpPr>
          <p:cNvPr id="35" name="Shape 18">
            <a:extLst>
              <a:ext uri="{FF2B5EF4-FFF2-40B4-BE49-F238E27FC236}">
                <a16:creationId xmlns:a16="http://schemas.microsoft.com/office/drawing/2014/main" id="{66AD69AD-457E-E962-07C9-5B9F1338736C}"/>
              </a:ext>
            </a:extLst>
          </p:cNvPr>
          <p:cNvSpPr/>
          <p:nvPr/>
        </p:nvSpPr>
        <p:spPr>
          <a:xfrm>
            <a:off x="633802" y="3191671"/>
            <a:ext cx="91440" cy="9144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6" name="Text 19">
            <a:extLst>
              <a:ext uri="{FF2B5EF4-FFF2-40B4-BE49-F238E27FC236}">
                <a16:creationId xmlns:a16="http://schemas.microsoft.com/office/drawing/2014/main" id="{14BA9213-48C5-407B-8F47-09613B35CE5F}"/>
              </a:ext>
            </a:extLst>
          </p:cNvPr>
          <p:cNvSpPr/>
          <p:nvPr/>
        </p:nvSpPr>
        <p:spPr>
          <a:xfrm>
            <a:off x="789464" y="3245639"/>
            <a:ext cx="3538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>
                <a:solidFill>
                  <a:srgbClr val="4A5068"/>
                </a:solidFill>
                <a:latin typeface="Segoe UI"/>
                <a:ea typeface="Calibri"/>
                <a:cs typeface="Segoe UI"/>
              </a:rPr>
              <a:t>Start the application</a:t>
            </a:r>
            <a:endParaRPr lang="en-US">
              <a:solidFill>
                <a:srgbClr val="000000"/>
              </a:solidFill>
              <a:latin typeface="Calibri" panose="020F0502020204030204"/>
              <a:ea typeface="Calibri"/>
              <a:cs typeface="Calibri" panose="020F0502020204030204"/>
            </a:endParaRPr>
          </a:p>
          <a:p>
            <a:r>
              <a:rPr lang="en-US" sz="1100" dirty="0">
                <a:solidFill>
                  <a:srgbClr val="4A5068"/>
                </a:solidFill>
                <a:latin typeface="Segoe UI"/>
                <a:ea typeface="Calibri"/>
                <a:cs typeface="Segoe UI"/>
              </a:rPr>
              <a:t> </a:t>
            </a:r>
            <a:r>
              <a:rPr lang="en-US" sz="1100" dirty="0" err="1">
                <a:solidFill>
                  <a:srgbClr val="4A5068"/>
                </a:solidFill>
                <a:latin typeface="Segoe UI"/>
                <a:ea typeface="Calibri"/>
                <a:cs typeface="Segoe UI"/>
              </a:rPr>
              <a:t>streamlit</a:t>
            </a:r>
            <a:r>
              <a:rPr lang="en-US" sz="1100" dirty="0">
                <a:solidFill>
                  <a:srgbClr val="4A5068"/>
                </a:solidFill>
                <a:latin typeface="Segoe UI"/>
                <a:ea typeface="Calibri"/>
                <a:cs typeface="Segoe UI"/>
              </a:rPr>
              <a:t> run chatbot.py</a:t>
            </a:r>
            <a:endParaRPr lang="en-US">
              <a:ea typeface="Calibri"/>
              <a:cs typeface="Calibri"/>
            </a:endParaRPr>
          </a:p>
          <a:p>
            <a:pPr marL="0" indent="0">
              <a:buNone/>
            </a:pPr>
            <a:endParaRPr lang="en-US" sz="1100" dirty="0">
              <a:solidFill>
                <a:srgbClr val="4A5068"/>
              </a:solidFill>
              <a:ea typeface="Calibri"/>
              <a:cs typeface="Calibri"/>
            </a:endParaRPr>
          </a:p>
        </p:txBody>
      </p:sp>
      <p:sp>
        <p:nvSpPr>
          <p:cNvPr id="39" name="Shape 12">
            <a:extLst>
              <a:ext uri="{FF2B5EF4-FFF2-40B4-BE49-F238E27FC236}">
                <a16:creationId xmlns:a16="http://schemas.microsoft.com/office/drawing/2014/main" id="{7C9CE1E6-FE82-8E3B-7B21-A18D6C77F489}"/>
              </a:ext>
            </a:extLst>
          </p:cNvPr>
          <p:cNvSpPr/>
          <p:nvPr/>
        </p:nvSpPr>
        <p:spPr>
          <a:xfrm>
            <a:off x="4915786" y="2662269"/>
            <a:ext cx="91440" cy="9144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41" name="Shape 27">
            <a:extLst>
              <a:ext uri="{FF2B5EF4-FFF2-40B4-BE49-F238E27FC236}">
                <a16:creationId xmlns:a16="http://schemas.microsoft.com/office/drawing/2014/main" id="{EB357CC0-DC04-E2AF-90F8-4F44A65A141C}"/>
              </a:ext>
            </a:extLst>
          </p:cNvPr>
          <p:cNvSpPr/>
          <p:nvPr/>
        </p:nvSpPr>
        <p:spPr>
          <a:xfrm>
            <a:off x="491986" y="4202018"/>
            <a:ext cx="8229600" cy="475488"/>
          </a:xfrm>
          <a:prstGeom prst="rect">
            <a:avLst/>
          </a:prstGeom>
          <a:solidFill>
            <a:srgbClr val="D97706">
              <a:alpha val="9000"/>
            </a:srgbClr>
          </a:solidFill>
          <a:ln w="12700">
            <a:solidFill>
              <a:srgbClr val="D97706">
                <a:alpha val="25000"/>
              </a:srgbClr>
            </a:solidFill>
            <a:prstDash val="solid"/>
          </a:ln>
        </p:spPr>
      </p:sp>
      <p:sp>
        <p:nvSpPr>
          <p:cNvPr id="43" name="Text 28">
            <a:extLst>
              <a:ext uri="{FF2B5EF4-FFF2-40B4-BE49-F238E27FC236}">
                <a16:creationId xmlns:a16="http://schemas.microsoft.com/office/drawing/2014/main" id="{D263540F-9613-55E0-07C9-7D02F8875F9D}"/>
              </a:ext>
            </a:extLst>
          </p:cNvPr>
          <p:cNvSpPr/>
          <p:nvPr/>
        </p:nvSpPr>
        <p:spPr>
          <a:xfrm>
            <a:off x="501199" y="4347025"/>
            <a:ext cx="7938220" cy="330481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150" b="1">
                <a:solidFill>
                  <a:srgbClr val="D97706"/>
                </a:solidFill>
                <a:latin typeface="Calibri"/>
                <a:ea typeface="Calibri"/>
                <a:cs typeface="Calibri"/>
              </a:rPr>
              <a:t>Note: </a:t>
            </a:r>
            <a:r>
              <a:rPr lang="en-US" sz="1100" dirty="0">
                <a:solidFill>
                  <a:srgbClr val="D97706"/>
                </a:solidFill>
                <a:latin typeface="Segoe UI"/>
                <a:ea typeface="Calibri"/>
                <a:cs typeface="Segoe UI"/>
              </a:rPr>
              <a:t>The application is already deployed. Local setup is optional.</a:t>
            </a:r>
          </a:p>
          <a:p>
            <a:pPr marL="0" indent="0">
              <a:buNone/>
            </a:pPr>
            <a:endParaRPr lang="en-US" sz="1150" b="1" dirty="0">
              <a:solidFill>
                <a:srgbClr val="D97706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1250974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219456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900" b="1" kern="0" spc="300">
                <a:solidFill>
                  <a:srgbClr val="0D9488"/>
                </a:solidFill>
                <a:latin typeface="Calibri"/>
                <a:ea typeface="Calibri"/>
                <a:cs typeface="Calibri"/>
              </a:rPr>
              <a:t>SLIDE 11  —  CAPABILITIES</a:t>
            </a:r>
            <a:endParaRPr lang="en-US" sz="900">
              <a:latin typeface="Calibri"/>
              <a:ea typeface="Calibri"/>
              <a:cs typeface="Calibri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402336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1A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260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8229600" cy="27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143000"/>
            <a:ext cx="2724912" cy="1719072"/>
          </a:xfrm>
          <a:prstGeom prst="rect">
            <a:avLst/>
          </a:prstGeom>
          <a:solidFill>
            <a:srgbClr val="F4F6FB"/>
          </a:solidFill>
          <a:ln w="12700">
            <a:solidFill>
              <a:srgbClr val="D1D8E8"/>
            </a:solidFill>
            <a:prstDash val="solid"/>
          </a:ln>
          <a:effectLst>
            <a:outerShdw blurRad="63500" dist="25400" dir="8100000" algn="bl" rotWithShape="0">
              <a:srgbClr val="1A1D2E">
                <a:alpha val="7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143000"/>
            <a:ext cx="2724912" cy="54864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234440"/>
            <a:ext cx="27249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🏷️</a:t>
            </a:r>
            <a:endParaRPr lang="en-US" sz="2600"/>
          </a:p>
        </p:txBody>
      </p:sp>
      <p:sp>
        <p:nvSpPr>
          <p:cNvPr id="9" name="Text 7"/>
          <p:cNvSpPr/>
          <p:nvPr/>
        </p:nvSpPr>
        <p:spPr>
          <a:xfrm>
            <a:off x="548640" y="1764792"/>
            <a:ext cx="25420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>
                <a:solidFill>
                  <a:srgbClr val="1A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Domain-Aware Answers</a:t>
            </a:r>
            <a:endParaRPr lang="en-US" sz="1150"/>
          </a:p>
        </p:txBody>
      </p:sp>
      <p:sp>
        <p:nvSpPr>
          <p:cNvPr id="10" name="Text 8"/>
          <p:cNvSpPr/>
          <p:nvPr/>
        </p:nvSpPr>
        <p:spPr>
          <a:xfrm>
            <a:off x="548640" y="2112264"/>
            <a:ext cx="254203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>
                <a:solidFill>
                  <a:srgbClr val="4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Auto-detects question domain (eTOM, SID, TMF APIs, Architecture) and routes to the right knowledge context.</a:t>
            </a:r>
            <a:endParaRPr lang="en-US" sz="950"/>
          </a:p>
        </p:txBody>
      </p:sp>
      <p:sp>
        <p:nvSpPr>
          <p:cNvPr id="11" name="Shape 9"/>
          <p:cNvSpPr/>
          <p:nvPr/>
        </p:nvSpPr>
        <p:spPr>
          <a:xfrm>
            <a:off x="3310128" y="1143000"/>
            <a:ext cx="2724912" cy="1719072"/>
          </a:xfrm>
          <a:prstGeom prst="rect">
            <a:avLst/>
          </a:prstGeom>
          <a:solidFill>
            <a:srgbClr val="F4F6FB"/>
          </a:solidFill>
          <a:ln w="12700">
            <a:solidFill>
              <a:srgbClr val="D1D8E8"/>
            </a:solidFill>
            <a:prstDash val="solid"/>
          </a:ln>
          <a:effectLst>
            <a:outerShdw blurRad="63500" dist="25400" dir="8100000" algn="bl" rotWithShape="0">
              <a:srgbClr val="1A1D2E">
                <a:alpha val="7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310128" y="1143000"/>
            <a:ext cx="2724912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10128" y="1234440"/>
            <a:ext cx="27249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</a:t>
            </a:r>
            <a:endParaRPr lang="en-US" sz="2600"/>
          </a:p>
        </p:txBody>
      </p:sp>
      <p:sp>
        <p:nvSpPr>
          <p:cNvPr id="14" name="Text 12"/>
          <p:cNvSpPr/>
          <p:nvPr/>
        </p:nvSpPr>
        <p:spPr>
          <a:xfrm>
            <a:off x="3401568" y="1764792"/>
            <a:ext cx="25420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>
                <a:solidFill>
                  <a:srgbClr val="1A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Output</a:t>
            </a:r>
            <a:endParaRPr lang="en-US" sz="1150"/>
          </a:p>
        </p:txBody>
      </p:sp>
      <p:sp>
        <p:nvSpPr>
          <p:cNvPr id="15" name="Text 13"/>
          <p:cNvSpPr/>
          <p:nvPr/>
        </p:nvSpPr>
        <p:spPr>
          <a:xfrm>
            <a:off x="3401568" y="2112264"/>
            <a:ext cx="254203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>
                <a:solidFill>
                  <a:srgbClr val="4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response: Definition → Telecom Context → Architecture Relevance → Example → Related APIs.</a:t>
            </a:r>
            <a:endParaRPr lang="en-US" sz="950"/>
          </a:p>
        </p:txBody>
      </p:sp>
      <p:sp>
        <p:nvSpPr>
          <p:cNvPr id="16" name="Shape 14"/>
          <p:cNvSpPr/>
          <p:nvPr/>
        </p:nvSpPr>
        <p:spPr>
          <a:xfrm>
            <a:off x="6163056" y="1143000"/>
            <a:ext cx="2724912" cy="1719072"/>
          </a:xfrm>
          <a:prstGeom prst="rect">
            <a:avLst/>
          </a:prstGeom>
          <a:solidFill>
            <a:srgbClr val="F4F6FB"/>
          </a:solidFill>
          <a:ln w="12700">
            <a:solidFill>
              <a:srgbClr val="D1D8E8"/>
            </a:solidFill>
            <a:prstDash val="solid"/>
          </a:ln>
          <a:effectLst>
            <a:outerShdw blurRad="63500" dist="25400" dir="8100000" algn="bl" rotWithShape="0">
              <a:srgbClr val="1A1D2E">
                <a:alpha val="7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63056" y="1143000"/>
            <a:ext cx="2724912" cy="5486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63056" y="1234440"/>
            <a:ext cx="27249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🏗️</a:t>
            </a:r>
            <a:endParaRPr lang="en-US" sz="2600"/>
          </a:p>
        </p:txBody>
      </p:sp>
      <p:sp>
        <p:nvSpPr>
          <p:cNvPr id="19" name="Text 17"/>
          <p:cNvSpPr/>
          <p:nvPr/>
        </p:nvSpPr>
        <p:spPr>
          <a:xfrm>
            <a:off x="6254496" y="1764792"/>
            <a:ext cx="25420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>
                <a:solidFill>
                  <a:srgbClr val="1A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Reasoning</a:t>
            </a:r>
            <a:endParaRPr lang="en-US" sz="1150"/>
          </a:p>
        </p:txBody>
      </p:sp>
      <p:sp>
        <p:nvSpPr>
          <p:cNvPr id="20" name="Text 18"/>
          <p:cNvSpPr/>
          <p:nvPr/>
        </p:nvSpPr>
        <p:spPr>
          <a:xfrm>
            <a:off x="6254496" y="2112264"/>
            <a:ext cx="254203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>
                <a:solidFill>
                  <a:srgbClr val="4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OSS/BSS architecture designs with components, flow, TMF API mapping, and integration points.</a:t>
            </a:r>
            <a:endParaRPr lang="en-US" sz="950"/>
          </a:p>
        </p:txBody>
      </p:sp>
      <p:sp>
        <p:nvSpPr>
          <p:cNvPr id="21" name="Shape 19"/>
          <p:cNvSpPr/>
          <p:nvPr/>
        </p:nvSpPr>
        <p:spPr>
          <a:xfrm>
            <a:off x="457200" y="2971800"/>
            <a:ext cx="2724912" cy="1719072"/>
          </a:xfrm>
          <a:prstGeom prst="rect">
            <a:avLst/>
          </a:prstGeom>
          <a:solidFill>
            <a:srgbClr val="F4F6FB"/>
          </a:solidFill>
          <a:ln w="12700">
            <a:solidFill>
              <a:srgbClr val="D1D8E8"/>
            </a:solidFill>
            <a:prstDash val="solid"/>
          </a:ln>
          <a:effectLst>
            <a:outerShdw blurRad="63500" dist="25400" dir="8100000" algn="bl" rotWithShape="0">
              <a:srgbClr val="1A1D2E">
                <a:alpha val="7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57200" y="2971800"/>
            <a:ext cx="2724912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3063240"/>
            <a:ext cx="27249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</a:t>
            </a:r>
            <a:endParaRPr lang="en-US" sz="2600"/>
          </a:p>
        </p:txBody>
      </p:sp>
      <p:sp>
        <p:nvSpPr>
          <p:cNvPr id="24" name="Text 22"/>
          <p:cNvSpPr/>
          <p:nvPr/>
        </p:nvSpPr>
        <p:spPr>
          <a:xfrm>
            <a:off x="548640" y="3593592"/>
            <a:ext cx="25420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>
                <a:solidFill>
                  <a:srgbClr val="1A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Dual-Source Tagging</a:t>
            </a:r>
            <a:endParaRPr lang="en-US" sz="1150"/>
          </a:p>
        </p:txBody>
      </p:sp>
      <p:sp>
        <p:nvSpPr>
          <p:cNvPr id="25" name="Text 23"/>
          <p:cNvSpPr/>
          <p:nvPr/>
        </p:nvSpPr>
        <p:spPr>
          <a:xfrm>
            <a:off x="548640" y="3941064"/>
            <a:ext cx="254203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>
                <a:solidFill>
                  <a:srgbClr val="4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answer references the exact PDF document or source URL plus the domain framework that backed it.</a:t>
            </a:r>
            <a:endParaRPr lang="en-US" sz="950"/>
          </a:p>
        </p:txBody>
      </p:sp>
      <p:sp>
        <p:nvSpPr>
          <p:cNvPr id="26" name="Shape 24"/>
          <p:cNvSpPr/>
          <p:nvPr/>
        </p:nvSpPr>
        <p:spPr>
          <a:xfrm>
            <a:off x="3310128" y="2971800"/>
            <a:ext cx="2724912" cy="1719072"/>
          </a:xfrm>
          <a:prstGeom prst="rect">
            <a:avLst/>
          </a:prstGeom>
          <a:solidFill>
            <a:srgbClr val="F4F6FB"/>
          </a:solidFill>
          <a:ln w="12700">
            <a:solidFill>
              <a:srgbClr val="D1D8E8"/>
            </a:solidFill>
            <a:prstDash val="solid"/>
          </a:ln>
          <a:effectLst>
            <a:outerShdw blurRad="63500" dist="25400" dir="8100000" algn="bl" rotWithShape="0">
              <a:srgbClr val="1A1D2E">
                <a:alpha val="7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310128" y="2971800"/>
            <a:ext cx="2724912" cy="5486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310128" y="3063240"/>
            <a:ext cx="27249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🕐</a:t>
            </a:r>
            <a:endParaRPr lang="en-US" sz="2600"/>
          </a:p>
        </p:txBody>
      </p:sp>
      <p:sp>
        <p:nvSpPr>
          <p:cNvPr id="29" name="Text 27"/>
          <p:cNvSpPr/>
          <p:nvPr/>
        </p:nvSpPr>
        <p:spPr>
          <a:xfrm>
            <a:off x="3401568" y="3593592"/>
            <a:ext cx="25420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>
                <a:solidFill>
                  <a:srgbClr val="1A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Timestamp Tracking</a:t>
            </a:r>
            <a:endParaRPr lang="en-US" sz="1150"/>
          </a:p>
        </p:txBody>
      </p:sp>
      <p:sp>
        <p:nvSpPr>
          <p:cNvPr id="30" name="Text 28"/>
          <p:cNvSpPr/>
          <p:nvPr/>
        </p:nvSpPr>
        <p:spPr>
          <a:xfrm>
            <a:off x="3401568" y="3941064"/>
            <a:ext cx="254203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>
                <a:solidFill>
                  <a:srgbClr val="4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message timestamped (IST) for full conversation auditability and session history.</a:t>
            </a:r>
            <a:endParaRPr lang="en-US" sz="950"/>
          </a:p>
        </p:txBody>
      </p:sp>
      <p:sp>
        <p:nvSpPr>
          <p:cNvPr id="31" name="Shape 29"/>
          <p:cNvSpPr/>
          <p:nvPr/>
        </p:nvSpPr>
        <p:spPr>
          <a:xfrm>
            <a:off x="6163056" y="2971800"/>
            <a:ext cx="2724912" cy="1719072"/>
          </a:xfrm>
          <a:prstGeom prst="rect">
            <a:avLst/>
          </a:prstGeom>
          <a:solidFill>
            <a:srgbClr val="F4F6FB"/>
          </a:solidFill>
          <a:ln w="12700">
            <a:solidFill>
              <a:srgbClr val="D1D8E8"/>
            </a:solidFill>
            <a:prstDash val="solid"/>
          </a:ln>
          <a:effectLst>
            <a:outerShdw blurRad="63500" dist="25400" dir="8100000" algn="bl" rotWithShape="0">
              <a:srgbClr val="1A1D2E">
                <a:alpha val="7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163056" y="2971800"/>
            <a:ext cx="2724912" cy="54864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163056" y="3063240"/>
            <a:ext cx="27249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</a:t>
            </a:r>
            <a:endParaRPr lang="en-US" sz="2600"/>
          </a:p>
        </p:txBody>
      </p:sp>
      <p:sp>
        <p:nvSpPr>
          <p:cNvPr id="34" name="Text 32"/>
          <p:cNvSpPr/>
          <p:nvPr/>
        </p:nvSpPr>
        <p:spPr>
          <a:xfrm>
            <a:off x="6254496" y="3593592"/>
            <a:ext cx="25420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>
                <a:solidFill>
                  <a:srgbClr val="1A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History</a:t>
            </a:r>
            <a:endParaRPr lang="en-US" sz="1150"/>
          </a:p>
        </p:txBody>
      </p:sp>
      <p:sp>
        <p:nvSpPr>
          <p:cNvPr id="35" name="Text 33"/>
          <p:cNvSpPr/>
          <p:nvPr/>
        </p:nvSpPr>
        <p:spPr>
          <a:xfrm>
            <a:off x="6254496" y="3941064"/>
            <a:ext cx="254203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>
                <a:solidFill>
                  <a:srgbClr val="4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Multi-session named chats with delete, active highlight, and full conversation history sidebar.</a:t>
            </a:r>
            <a:endParaRPr lang="en-US" sz="95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219456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900" b="1" kern="0" spc="300">
                <a:solidFill>
                  <a:srgbClr val="0891B2"/>
                </a:solidFill>
                <a:latin typeface="Calibri"/>
                <a:ea typeface="Calibri"/>
                <a:cs typeface="Calibri"/>
              </a:rPr>
              <a:t>SLIDE 12  —  UI DEMO</a:t>
            </a:r>
            <a:endParaRPr lang="en-US" sz="900">
              <a:latin typeface="Calibri"/>
              <a:ea typeface="Calibri"/>
              <a:cs typeface="Calibri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402336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1A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UI</a:t>
            </a:r>
            <a:endParaRPr lang="en-US" sz="260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8229600" cy="2743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00" y="1115568"/>
            <a:ext cx="3200400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5F52501-75A0-6CB7-862D-0508B0BB9C16}"/>
              </a:ext>
            </a:extLst>
          </p:cNvPr>
          <p:cNvSpPr txBox="1"/>
          <p:nvPr/>
        </p:nvSpPr>
        <p:spPr>
          <a:xfrm>
            <a:off x="2160985" y="4750594"/>
            <a:ext cx="6107906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>
                <a:latin typeface="Segoe UI"/>
                <a:cs typeface="Segoe UI"/>
              </a:rPr>
              <a:t>Live Application link:</a:t>
            </a:r>
            <a:r>
              <a:rPr lang="en-US" sz="1200" dirty="0">
                <a:solidFill>
                  <a:srgbClr val="000000"/>
                </a:solidFill>
                <a:latin typeface="Segoe UI"/>
                <a:cs typeface="Segoe UI"/>
              </a:rPr>
              <a:t> </a:t>
            </a:r>
            <a:r>
              <a:rPr lang="en-US" sz="1200" b="0" i="1" u="none" strike="noStrike" baseline="0">
                <a:solidFill>
                  <a:srgbClr val="0891B2"/>
                </a:solidFill>
                <a:latin typeface="Calibri"/>
              </a:rPr>
              <a:t>telecom-solution-architect-4cquhhnqfdujgxakdwjqbd.streamlit.app</a:t>
            </a:r>
            <a:endParaRPr lang="en-US" sz="1200">
              <a:ea typeface="Calibri"/>
              <a:cs typeface="Calibri"/>
            </a:endParaRPr>
          </a:p>
          <a:p>
            <a:pPr algn="ctr"/>
            <a:endParaRPr lang="en-US" sz="2000" dirty="0">
              <a:ea typeface="Calibri"/>
              <a:cs typeface="Calibri"/>
            </a:endParaRPr>
          </a:p>
        </p:txBody>
      </p:sp>
      <p:pic>
        <p:nvPicPr>
          <p:cNvPr id="32" name="Picture 3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25D3653-F880-106C-86CB-BDCC67DD6A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5413" y="807450"/>
            <a:ext cx="8532528" cy="3936134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8F88C68-0D74-6B5B-8CE8-BD37ACD59A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07633021-8890-4DE5-9A2B-C95E2EA9DE0E}"/>
              </a:ext>
            </a:extLst>
          </p:cNvPr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26EF5CA9-CC93-B208-79D7-4BE94CC4F468}"/>
              </a:ext>
            </a:extLst>
          </p:cNvPr>
          <p:cNvSpPr/>
          <p:nvPr/>
        </p:nvSpPr>
        <p:spPr>
          <a:xfrm>
            <a:off x="457200" y="201168"/>
            <a:ext cx="8229600" cy="219456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900" b="1" kern="0" spc="300">
                <a:solidFill>
                  <a:srgbClr val="0891B2"/>
                </a:solidFill>
                <a:latin typeface="Calibri"/>
                <a:ea typeface="Calibri"/>
                <a:cs typeface="Calibri"/>
              </a:rPr>
              <a:t>SLIDE 13  —  UI DEMO</a:t>
            </a:r>
            <a:endParaRPr lang="en-US" sz="900">
              <a:latin typeface="Calibri"/>
              <a:ea typeface="Calibri"/>
              <a:cs typeface="Calibri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2193B68A-B652-AA33-9B51-0618C14FA2D4}"/>
              </a:ext>
            </a:extLst>
          </p:cNvPr>
          <p:cNvSpPr/>
          <p:nvPr/>
        </p:nvSpPr>
        <p:spPr>
          <a:xfrm>
            <a:off x="457200" y="402336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1A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UI</a:t>
            </a:r>
            <a:endParaRPr lang="en-US" sz="260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96DB5C36-3EBD-4E44-A35D-2CEDC7176D58}"/>
              </a:ext>
            </a:extLst>
          </p:cNvPr>
          <p:cNvSpPr/>
          <p:nvPr/>
        </p:nvSpPr>
        <p:spPr>
          <a:xfrm>
            <a:off x="457200" y="1005840"/>
            <a:ext cx="8229600" cy="2743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D029B357-9FE8-DC1E-1FF3-52869A62228D}"/>
              </a:ext>
            </a:extLst>
          </p:cNvPr>
          <p:cNvSpPr/>
          <p:nvPr/>
        </p:nvSpPr>
        <p:spPr>
          <a:xfrm>
            <a:off x="457200" y="1115568"/>
            <a:ext cx="4846320" cy="3520440"/>
          </a:xfrm>
          <a:prstGeom prst="rect">
            <a:avLst/>
          </a:prstGeom>
          <a:solidFill>
            <a:srgbClr val="FFFFFF"/>
          </a:solidFill>
          <a:ln w="19050">
            <a:solidFill>
              <a:srgbClr val="D1D8E8"/>
            </a:solidFill>
            <a:prstDash val="solid"/>
          </a:ln>
          <a:effectLst>
            <a:outerShdw blurRad="127000" dist="38100" dir="8100000" algn="bl" rotWithShape="0">
              <a:srgbClr val="1A1D2E">
                <a:alpha val="9000"/>
              </a:srgbClr>
            </a:outerShdw>
          </a:effectLst>
        </p:spPr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117C8B0E-F974-1891-4040-F1AC7816FCA2}"/>
              </a:ext>
            </a:extLst>
          </p:cNvPr>
          <p:cNvSpPr/>
          <p:nvPr/>
        </p:nvSpPr>
        <p:spPr>
          <a:xfrm>
            <a:off x="457200" y="1115568"/>
            <a:ext cx="4846320" cy="347472"/>
          </a:xfrm>
          <a:prstGeom prst="rect">
            <a:avLst/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C9BE900C-5025-0CAE-7A54-1CC49B98BAE5}"/>
              </a:ext>
            </a:extLst>
          </p:cNvPr>
          <p:cNvSpPr/>
          <p:nvPr/>
        </p:nvSpPr>
        <p:spPr>
          <a:xfrm>
            <a:off x="594360" y="1188720"/>
            <a:ext cx="128016" cy="128016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6AAB3A69-82E1-C31B-6097-FBAE58E47317}"/>
              </a:ext>
            </a:extLst>
          </p:cNvPr>
          <p:cNvSpPr/>
          <p:nvPr/>
        </p:nvSpPr>
        <p:spPr>
          <a:xfrm>
            <a:off x="786384" y="1188720"/>
            <a:ext cx="128016" cy="128016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68366BD1-6B33-C10B-A512-DA3F4749044B}"/>
              </a:ext>
            </a:extLst>
          </p:cNvPr>
          <p:cNvSpPr/>
          <p:nvPr/>
        </p:nvSpPr>
        <p:spPr>
          <a:xfrm>
            <a:off x="978408" y="1188720"/>
            <a:ext cx="128016" cy="128016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4CDE78EC-7A15-05EA-E970-3DE015F89510}"/>
              </a:ext>
            </a:extLst>
          </p:cNvPr>
          <p:cNvSpPr/>
          <p:nvPr/>
        </p:nvSpPr>
        <p:spPr>
          <a:xfrm>
            <a:off x="1188720" y="1170432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streamlit.app  —  Telecom Co-Pilot</a:t>
            </a:r>
            <a:endParaRPr lang="en-US" sz="80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EC6E1D1D-D6AC-9EFD-3EC1-D5793E126B04}"/>
              </a:ext>
            </a:extLst>
          </p:cNvPr>
          <p:cNvSpPr/>
          <p:nvPr/>
        </p:nvSpPr>
        <p:spPr>
          <a:xfrm>
            <a:off x="457200" y="1463040"/>
            <a:ext cx="48463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📸</a:t>
            </a:r>
            <a:endParaRPr lang="en-US" sz="480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79AD5F46-DE3D-BC0E-E775-CCB62838811B}"/>
              </a:ext>
            </a:extLst>
          </p:cNvPr>
          <p:cNvSpPr/>
          <p:nvPr/>
        </p:nvSpPr>
        <p:spPr>
          <a:xfrm>
            <a:off x="457200" y="3200400"/>
            <a:ext cx="4846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 Placeholder</a:t>
            </a:r>
            <a:endParaRPr lang="en-US" sz="1100"/>
          </a:p>
          <a:p>
            <a:pPr marL="0" indent="0" algn="ctr">
              <a:buNone/>
            </a:pPr>
            <a:r>
              <a:rPr lang="en-US" sz="110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app screenshot here</a:t>
            </a:r>
            <a:endParaRPr lang="en-US" sz="110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69DFEB6B-1A5E-3317-A6AA-47BCCD17E14F}"/>
              </a:ext>
            </a:extLst>
          </p:cNvPr>
          <p:cNvSpPr/>
          <p:nvPr/>
        </p:nvSpPr>
        <p:spPr>
          <a:xfrm>
            <a:off x="5539978" y="999482"/>
            <a:ext cx="320040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8E8"/>
            </a:solidFill>
            <a:prstDash val="solid"/>
          </a:ln>
          <a:effectLst>
            <a:outerShdw blurRad="63500" dist="25400" dir="8100000" algn="bl" rotWithShape="0">
              <a:srgbClr val="1A1D2E">
                <a:alpha val="7000"/>
              </a:srgbClr>
            </a:outerShdw>
          </a:effectLst>
        </p:spPr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68CF43B4-BF55-B56E-FBE5-1C3A1F74B936}"/>
              </a:ext>
            </a:extLst>
          </p:cNvPr>
          <p:cNvSpPr/>
          <p:nvPr/>
        </p:nvSpPr>
        <p:spPr>
          <a:xfrm>
            <a:off x="5486400" y="1115568"/>
            <a:ext cx="3200400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03A79E8C-7FCA-CA2A-FD28-5E554524F4E4}"/>
              </a:ext>
            </a:extLst>
          </p:cNvPr>
          <p:cNvSpPr/>
          <p:nvPr/>
        </p:nvSpPr>
        <p:spPr>
          <a:xfrm>
            <a:off x="5577840" y="1207008"/>
            <a:ext cx="3017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See</a:t>
            </a:r>
            <a:endParaRPr lang="en-US" sz="1300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E4E1380F-E94E-EA21-11A7-381F59D581E0}"/>
              </a:ext>
            </a:extLst>
          </p:cNvPr>
          <p:cNvSpPr/>
          <p:nvPr/>
        </p:nvSpPr>
        <p:spPr>
          <a:xfrm>
            <a:off x="5577840" y="1755648"/>
            <a:ext cx="91440" cy="9144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2AC7DFFF-5C39-7683-52CC-2EDD0D2289E8}"/>
              </a:ext>
            </a:extLst>
          </p:cNvPr>
          <p:cNvSpPr/>
          <p:nvPr/>
        </p:nvSpPr>
        <p:spPr>
          <a:xfrm>
            <a:off x="5742432" y="1664208"/>
            <a:ext cx="28072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4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responses (Definition → Context → Example)</a:t>
            </a:r>
            <a:endParaRPr lang="en-US" sz="1050"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9D89ED7D-7EF3-8BC9-ECCC-C51DF9193CAD}"/>
              </a:ext>
            </a:extLst>
          </p:cNvPr>
          <p:cNvSpPr/>
          <p:nvPr/>
        </p:nvSpPr>
        <p:spPr>
          <a:xfrm>
            <a:off x="5577840" y="2231136"/>
            <a:ext cx="91440" cy="9144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A48C65B3-B135-641F-B8FC-C63E31787C3C}"/>
              </a:ext>
            </a:extLst>
          </p:cNvPr>
          <p:cNvSpPr/>
          <p:nvPr/>
        </p:nvSpPr>
        <p:spPr>
          <a:xfrm>
            <a:off x="5742432" y="2139696"/>
            <a:ext cx="28072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4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grounded in retrieved PDFs + URLs</a:t>
            </a:r>
            <a:endParaRPr lang="en-US" sz="1050"/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6C21D4BA-47E5-DE42-ED68-698C1F560FD0}"/>
              </a:ext>
            </a:extLst>
          </p:cNvPr>
          <p:cNvSpPr/>
          <p:nvPr/>
        </p:nvSpPr>
        <p:spPr>
          <a:xfrm>
            <a:off x="5577840" y="2706624"/>
            <a:ext cx="91440" cy="9144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8E2320AA-60DD-51BD-CCBD-87658E084879}"/>
              </a:ext>
            </a:extLst>
          </p:cNvPr>
          <p:cNvSpPr/>
          <p:nvPr/>
        </p:nvSpPr>
        <p:spPr>
          <a:xfrm>
            <a:off x="5742432" y="2615184"/>
            <a:ext cx="28072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4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which PDF or URL backed the answer</a:t>
            </a:r>
            <a:endParaRPr lang="en-US" sz="1050"/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AC76EFB5-6832-5BEB-9E64-05DC07E53041}"/>
              </a:ext>
            </a:extLst>
          </p:cNvPr>
          <p:cNvSpPr/>
          <p:nvPr/>
        </p:nvSpPr>
        <p:spPr>
          <a:xfrm>
            <a:off x="5577840" y="3182112"/>
            <a:ext cx="91440" cy="9144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EB11D8A3-22F3-FE7F-DF2D-F70E6E7A4EC0}"/>
              </a:ext>
            </a:extLst>
          </p:cNvPr>
          <p:cNvSpPr/>
          <p:nvPr/>
        </p:nvSpPr>
        <p:spPr>
          <a:xfrm>
            <a:off x="5742432" y="3090672"/>
            <a:ext cx="28072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4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history across sessions</a:t>
            </a:r>
            <a:endParaRPr lang="en-US" sz="1050"/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4F7211A0-F2CF-4C28-53B3-9221525E7F00}"/>
              </a:ext>
            </a:extLst>
          </p:cNvPr>
          <p:cNvSpPr/>
          <p:nvPr/>
        </p:nvSpPr>
        <p:spPr>
          <a:xfrm>
            <a:off x="5577840" y="3657600"/>
            <a:ext cx="91440" cy="9144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CC8ADB58-A194-1DD9-885A-063E5E0EE1FF}"/>
              </a:ext>
            </a:extLst>
          </p:cNvPr>
          <p:cNvSpPr/>
          <p:nvPr/>
        </p:nvSpPr>
        <p:spPr>
          <a:xfrm>
            <a:off x="5742432" y="3566160"/>
            <a:ext cx="28072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4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 mode toggle</a:t>
            </a:r>
            <a:endParaRPr lang="en-US" sz="1050"/>
          </a:p>
        </p:txBody>
      </p:sp>
      <p:sp>
        <p:nvSpPr>
          <p:cNvPr id="27" name="Shape 25">
            <a:extLst>
              <a:ext uri="{FF2B5EF4-FFF2-40B4-BE49-F238E27FC236}">
                <a16:creationId xmlns:a16="http://schemas.microsoft.com/office/drawing/2014/main" id="{50D5CF2A-CA1B-76AE-9784-C957C3E9742C}"/>
              </a:ext>
            </a:extLst>
          </p:cNvPr>
          <p:cNvSpPr/>
          <p:nvPr/>
        </p:nvSpPr>
        <p:spPr>
          <a:xfrm>
            <a:off x="5577840" y="4133088"/>
            <a:ext cx="91440" cy="9144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79B24C2A-40D2-0EA2-8E77-2DDCAC6927FA}"/>
              </a:ext>
            </a:extLst>
          </p:cNvPr>
          <p:cNvSpPr/>
          <p:nvPr/>
        </p:nvSpPr>
        <p:spPr>
          <a:xfrm>
            <a:off x="5742432" y="4041648"/>
            <a:ext cx="28072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4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Regenerate answer button</a:t>
            </a:r>
            <a:endParaRPr lang="en-US" sz="1050"/>
          </a:p>
        </p:txBody>
      </p:sp>
      <p:pic>
        <p:nvPicPr>
          <p:cNvPr id="29" name="Picture 2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38B3F44-FA7E-94AD-9E67-FBB8F61A15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999918"/>
            <a:ext cx="5545337" cy="36258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98021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F0E5E47-D269-40A9-0988-B45D02596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6DB49B3E-6181-B187-2B14-6F4D1342428D}"/>
              </a:ext>
            </a:extLst>
          </p:cNvPr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954BD841-5D66-1F29-1126-58DFEE8B0987}"/>
              </a:ext>
            </a:extLst>
          </p:cNvPr>
          <p:cNvSpPr/>
          <p:nvPr/>
        </p:nvSpPr>
        <p:spPr>
          <a:xfrm>
            <a:off x="457200" y="201168"/>
            <a:ext cx="8229600" cy="219456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900" b="1" kern="0" spc="300">
                <a:solidFill>
                  <a:srgbClr val="4F46E5"/>
                </a:solidFill>
                <a:latin typeface="Calibri"/>
                <a:ea typeface="Calibri"/>
                <a:cs typeface="Calibri"/>
              </a:rPr>
              <a:t>SLIDE 14  —CHALLENGES AND SOLUTIONS</a:t>
            </a:r>
            <a:endParaRPr lang="en-US" sz="9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6968B111-649B-C873-F2A5-1CFD6A106F42}"/>
              </a:ext>
            </a:extLst>
          </p:cNvPr>
          <p:cNvSpPr/>
          <p:nvPr/>
        </p:nvSpPr>
        <p:spPr>
          <a:xfrm>
            <a:off x="457200" y="402336"/>
            <a:ext cx="8229600" cy="5029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2600" b="1">
                <a:solidFill>
                  <a:srgbClr val="1A1D2E"/>
                </a:solidFill>
                <a:ea typeface="Calibri"/>
                <a:cs typeface="Calibri"/>
              </a:rPr>
              <a:t>Challenges and Solutions</a:t>
            </a:r>
            <a:endParaRPr lang="en-US" sz="2600" b="1" dirty="0">
              <a:solidFill>
                <a:srgbClr val="1A1D2E"/>
              </a:solidFill>
              <a:ea typeface="Calibri"/>
              <a:cs typeface="Calibri"/>
            </a:endParaRP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05FC6379-F065-CA7F-51BA-AEC6FDE85E39}"/>
              </a:ext>
            </a:extLst>
          </p:cNvPr>
          <p:cNvSpPr/>
          <p:nvPr/>
        </p:nvSpPr>
        <p:spPr>
          <a:xfrm>
            <a:off x="457200" y="1005840"/>
            <a:ext cx="8229600" cy="27432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5DFDC2C2-CCA3-EB74-ABD3-9321F3977D03}"/>
              </a:ext>
            </a:extLst>
          </p:cNvPr>
          <p:cNvSpPr/>
          <p:nvPr/>
        </p:nvSpPr>
        <p:spPr>
          <a:xfrm>
            <a:off x="468086" y="1115568"/>
            <a:ext cx="393192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8E8"/>
            </a:solidFill>
            <a:prstDash val="solid"/>
          </a:ln>
          <a:effectLst>
            <a:outerShdw blurRad="127000" dist="38100" dir="8100000" algn="bl" rotWithShape="0">
              <a:srgbClr val="1A1D2E">
                <a:alpha val="9000"/>
              </a:srgbClr>
            </a:outerShdw>
          </a:effectLst>
        </p:spPr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FEE84170-C5C8-9A53-6633-572CCA4D48F4}"/>
              </a:ext>
            </a:extLst>
          </p:cNvPr>
          <p:cNvSpPr/>
          <p:nvPr/>
        </p:nvSpPr>
        <p:spPr>
          <a:xfrm>
            <a:off x="468086" y="1115568"/>
            <a:ext cx="3931920" cy="45720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2F4087D8-DAC7-2F26-9C92-64455BFA0C90}"/>
              </a:ext>
            </a:extLst>
          </p:cNvPr>
          <p:cNvSpPr/>
          <p:nvPr/>
        </p:nvSpPr>
        <p:spPr>
          <a:xfrm>
            <a:off x="566928" y="1115568"/>
            <a:ext cx="3730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⚙️  Challenges</a:t>
            </a:r>
            <a:endParaRPr lang="en-US" sz="1400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FDAE8CD1-380A-D49E-ED4D-28658C6D0561}"/>
              </a:ext>
            </a:extLst>
          </p:cNvPr>
          <p:cNvSpPr/>
          <p:nvPr/>
        </p:nvSpPr>
        <p:spPr>
          <a:xfrm>
            <a:off x="987552" y="3529584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b="1" dirty="0">
              <a:solidFill>
                <a:srgbClr val="9CA3AF"/>
              </a:solidFill>
              <a:ea typeface="Calibri"/>
              <a:cs typeface="Calibri"/>
            </a:endParaRPr>
          </a:p>
        </p:txBody>
      </p:sp>
      <p:sp>
        <p:nvSpPr>
          <p:cNvPr id="27" name="Shape 25">
            <a:extLst>
              <a:ext uri="{FF2B5EF4-FFF2-40B4-BE49-F238E27FC236}">
                <a16:creationId xmlns:a16="http://schemas.microsoft.com/office/drawing/2014/main" id="{C536FAC4-917F-D71A-08DC-B53E20A59044}"/>
              </a:ext>
            </a:extLst>
          </p:cNvPr>
          <p:cNvSpPr/>
          <p:nvPr/>
        </p:nvSpPr>
        <p:spPr>
          <a:xfrm>
            <a:off x="4572000" y="1115568"/>
            <a:ext cx="411480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8E8"/>
            </a:solidFill>
            <a:prstDash val="solid"/>
          </a:ln>
          <a:effectLst>
            <a:outerShdw blurRad="127000" dist="38100" dir="8100000" algn="bl" rotWithShape="0">
              <a:srgbClr val="1A1D2E">
                <a:alpha val="9000"/>
              </a:srgbClr>
            </a:outerShdw>
          </a:effectLst>
        </p:spPr>
      </p:sp>
      <p:sp>
        <p:nvSpPr>
          <p:cNvPr id="28" name="Shape 26">
            <a:extLst>
              <a:ext uri="{FF2B5EF4-FFF2-40B4-BE49-F238E27FC236}">
                <a16:creationId xmlns:a16="http://schemas.microsoft.com/office/drawing/2014/main" id="{B536B9AA-FF13-9683-D0CC-B5A7811BDA95}"/>
              </a:ext>
            </a:extLst>
          </p:cNvPr>
          <p:cNvSpPr/>
          <p:nvPr/>
        </p:nvSpPr>
        <p:spPr>
          <a:xfrm>
            <a:off x="4572000" y="1115568"/>
            <a:ext cx="4114800" cy="457200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498DE90F-96F0-9DF2-9089-C9B798CDE4E5}"/>
              </a:ext>
            </a:extLst>
          </p:cNvPr>
          <p:cNvSpPr/>
          <p:nvPr/>
        </p:nvSpPr>
        <p:spPr>
          <a:xfrm>
            <a:off x="4681728" y="1115568"/>
            <a:ext cx="38953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4F46E5"/>
                </a:solidFill>
                <a:latin typeface="Calibri"/>
                <a:ea typeface="Calibri"/>
                <a:cs typeface="Calibri"/>
              </a:rPr>
              <a:t>✅  Solutions</a:t>
            </a:r>
            <a:endParaRPr lang="en-US" sz="1400"/>
          </a:p>
        </p:txBody>
      </p:sp>
      <p:sp>
        <p:nvSpPr>
          <p:cNvPr id="30" name="Shape 28">
            <a:extLst>
              <a:ext uri="{FF2B5EF4-FFF2-40B4-BE49-F238E27FC236}">
                <a16:creationId xmlns:a16="http://schemas.microsoft.com/office/drawing/2014/main" id="{9B9B6269-5DC8-1C5D-4F00-9161EFFFC67D}"/>
              </a:ext>
            </a:extLst>
          </p:cNvPr>
          <p:cNvSpPr/>
          <p:nvPr/>
        </p:nvSpPr>
        <p:spPr>
          <a:xfrm>
            <a:off x="632242" y="2011898"/>
            <a:ext cx="91440" cy="914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C0C6EFDC-09F6-2FC4-A43F-3F422EB1C02B}"/>
              </a:ext>
            </a:extLst>
          </p:cNvPr>
          <p:cNvSpPr/>
          <p:nvPr/>
        </p:nvSpPr>
        <p:spPr>
          <a:xfrm>
            <a:off x="818603" y="1931345"/>
            <a:ext cx="3449468" cy="579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b="1">
                <a:solidFill>
                  <a:schemeClr val="accent1"/>
                </a:solidFill>
                <a:ea typeface="+mn-lt"/>
                <a:cs typeface="+mn-lt"/>
              </a:rPr>
              <a:t>Large PDF Datasets: </a:t>
            </a:r>
          </a:p>
          <a:p>
            <a:r>
              <a:rPr lang="en-US" sz="1050">
                <a:solidFill>
                  <a:srgbClr val="4A5068"/>
                </a:solidFill>
                <a:ea typeface="+mn-lt"/>
                <a:cs typeface="+mn-lt"/>
              </a:rPr>
              <a:t>Handling large telecom documents caused memory and ingestion performance issues</a:t>
            </a:r>
            <a:endParaRPr lang="en-US" sz="1050">
              <a:ea typeface="Calibri"/>
              <a:cs typeface="Calibri"/>
            </a:endParaRPr>
          </a:p>
        </p:txBody>
      </p:sp>
      <p:sp>
        <p:nvSpPr>
          <p:cNvPr id="32" name="Shape 30">
            <a:extLst>
              <a:ext uri="{FF2B5EF4-FFF2-40B4-BE49-F238E27FC236}">
                <a16:creationId xmlns:a16="http://schemas.microsoft.com/office/drawing/2014/main" id="{0895160F-F30C-FBE9-A04A-5BA6400B6430}"/>
              </a:ext>
            </a:extLst>
          </p:cNvPr>
          <p:cNvSpPr/>
          <p:nvPr/>
        </p:nvSpPr>
        <p:spPr>
          <a:xfrm>
            <a:off x="632242" y="2549217"/>
            <a:ext cx="91440" cy="9144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3" name="Text 31">
            <a:extLst>
              <a:ext uri="{FF2B5EF4-FFF2-40B4-BE49-F238E27FC236}">
                <a16:creationId xmlns:a16="http://schemas.microsoft.com/office/drawing/2014/main" id="{B204CCEA-DAB1-6740-DF7B-3EE5CF9D44F6}"/>
              </a:ext>
            </a:extLst>
          </p:cNvPr>
          <p:cNvSpPr/>
          <p:nvPr/>
        </p:nvSpPr>
        <p:spPr>
          <a:xfrm>
            <a:off x="851264" y="2506764"/>
            <a:ext cx="3471236" cy="5251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b="1">
                <a:solidFill>
                  <a:srgbClr val="4F46E5"/>
                </a:solidFill>
                <a:ea typeface="+mn-lt"/>
                <a:cs typeface="+mn-lt"/>
              </a:rPr>
              <a:t>Model Compatibility:</a:t>
            </a:r>
            <a:endParaRPr lang="en-US" sz="1050" b="1">
              <a:solidFill>
                <a:srgbClr val="4F46E5"/>
              </a:solidFill>
              <a:ea typeface="Calibri"/>
              <a:cs typeface="Calibri"/>
            </a:endParaRPr>
          </a:p>
          <a:p>
            <a:r>
              <a:rPr lang="en-US" sz="1050">
                <a:solidFill>
                  <a:srgbClr val="4A5068"/>
                </a:solidFill>
                <a:ea typeface="+mn-lt"/>
                <a:cs typeface="+mn-lt"/>
              </a:rPr>
              <a:t>LLM output formatting lacked consistency and structured response clarity</a:t>
            </a:r>
            <a:endParaRPr lang="en-US" sz="1050"/>
          </a:p>
        </p:txBody>
      </p:sp>
      <p:sp>
        <p:nvSpPr>
          <p:cNvPr id="34" name="Shape 32">
            <a:extLst>
              <a:ext uri="{FF2B5EF4-FFF2-40B4-BE49-F238E27FC236}">
                <a16:creationId xmlns:a16="http://schemas.microsoft.com/office/drawing/2014/main" id="{CC4C3AE8-A6D0-EAE6-6B32-E67D0E2EF5EE}"/>
              </a:ext>
            </a:extLst>
          </p:cNvPr>
          <p:cNvSpPr/>
          <p:nvPr/>
        </p:nvSpPr>
        <p:spPr>
          <a:xfrm>
            <a:off x="632242" y="3091978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35" name="Text 33">
            <a:extLst>
              <a:ext uri="{FF2B5EF4-FFF2-40B4-BE49-F238E27FC236}">
                <a16:creationId xmlns:a16="http://schemas.microsoft.com/office/drawing/2014/main" id="{43153BAB-8ADE-6287-6372-271B32140721}"/>
              </a:ext>
            </a:extLst>
          </p:cNvPr>
          <p:cNvSpPr/>
          <p:nvPr/>
        </p:nvSpPr>
        <p:spPr>
          <a:xfrm>
            <a:off x="829491" y="3071295"/>
            <a:ext cx="3438580" cy="514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b="1">
                <a:solidFill>
                  <a:schemeClr val="accent6"/>
                </a:solidFill>
                <a:ea typeface="+mn-lt"/>
                <a:cs typeface="+mn-lt"/>
              </a:rPr>
              <a:t>Deployment Errors:</a:t>
            </a:r>
            <a:endParaRPr lang="en-US" sz="1050" b="1">
              <a:solidFill>
                <a:schemeClr val="accent6"/>
              </a:solidFill>
              <a:ea typeface="Calibri"/>
              <a:cs typeface="Calibri"/>
            </a:endParaRPr>
          </a:p>
          <a:p>
            <a:r>
              <a:rPr lang="en-US" sz="1050" dirty="0">
                <a:solidFill>
                  <a:srgbClr val="4A5068"/>
                </a:solidFill>
                <a:ea typeface="+mn-lt"/>
                <a:cs typeface="+mn-lt"/>
              </a:rPr>
              <a:t>Issues during </a:t>
            </a:r>
            <a:r>
              <a:rPr lang="en-US" sz="1050" dirty="0" err="1">
                <a:solidFill>
                  <a:srgbClr val="4A5068"/>
                </a:solidFill>
                <a:ea typeface="+mn-lt"/>
                <a:cs typeface="+mn-lt"/>
              </a:rPr>
              <a:t>Streamlit</a:t>
            </a:r>
            <a:r>
              <a:rPr lang="en-US" sz="1050" dirty="0">
                <a:solidFill>
                  <a:srgbClr val="4A5068"/>
                </a:solidFill>
                <a:ea typeface="+mn-lt"/>
                <a:cs typeface="+mn-lt"/>
              </a:rPr>
              <a:t> deployment due to dependencies and environment setup</a:t>
            </a:r>
            <a:endParaRPr lang="en-US" sz="1050" dirty="0"/>
          </a:p>
        </p:txBody>
      </p:sp>
      <p:sp>
        <p:nvSpPr>
          <p:cNvPr id="36" name="Shape 34">
            <a:extLst>
              <a:ext uri="{FF2B5EF4-FFF2-40B4-BE49-F238E27FC236}">
                <a16:creationId xmlns:a16="http://schemas.microsoft.com/office/drawing/2014/main" id="{9FF00AB5-A52E-9221-1C38-70DC16EE163F}"/>
              </a:ext>
            </a:extLst>
          </p:cNvPr>
          <p:cNvSpPr/>
          <p:nvPr/>
        </p:nvSpPr>
        <p:spPr>
          <a:xfrm>
            <a:off x="632242" y="3623855"/>
            <a:ext cx="91440" cy="91440"/>
          </a:xfrm>
          <a:prstGeom prst="ellipse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37" name="Text 35">
            <a:extLst>
              <a:ext uri="{FF2B5EF4-FFF2-40B4-BE49-F238E27FC236}">
                <a16:creationId xmlns:a16="http://schemas.microsoft.com/office/drawing/2014/main" id="{D18DFB18-5CA8-70D8-8E54-34207CAC626C}"/>
              </a:ext>
            </a:extLst>
          </p:cNvPr>
          <p:cNvSpPr/>
          <p:nvPr/>
        </p:nvSpPr>
        <p:spPr>
          <a:xfrm>
            <a:off x="851263" y="3679375"/>
            <a:ext cx="3721608" cy="5251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b="1">
                <a:solidFill>
                  <a:srgbClr val="E11D48"/>
                </a:solidFill>
                <a:ea typeface="+mn-lt"/>
                <a:cs typeface="+mn-lt"/>
              </a:rPr>
              <a:t>API Quota Limits:</a:t>
            </a:r>
            <a:endParaRPr lang="en-US" sz="1050" b="1">
              <a:solidFill>
                <a:srgbClr val="E11D48"/>
              </a:solidFill>
              <a:ea typeface="Calibri"/>
              <a:cs typeface="Calibri"/>
            </a:endParaRPr>
          </a:p>
          <a:p>
            <a:r>
              <a:rPr lang="en-US" sz="1050">
                <a:solidFill>
                  <a:srgbClr val="4A5068"/>
                </a:solidFill>
                <a:ea typeface="+mn-lt"/>
                <a:cs typeface="+mn-lt"/>
              </a:rPr>
              <a:t>Initially used Gemini API, but frequent usage limits affected system stability</a:t>
            </a:r>
            <a:endParaRPr lang="en-US" sz="1050"/>
          </a:p>
          <a:p>
            <a:pPr marL="0" indent="0">
              <a:buNone/>
            </a:pPr>
            <a:endParaRPr lang="en-US" sz="1100" dirty="0">
              <a:solidFill>
                <a:srgbClr val="4A5068"/>
              </a:solidFill>
              <a:ea typeface="Calibri"/>
              <a:cs typeface="Calibri"/>
            </a:endParaRPr>
          </a:p>
        </p:txBody>
      </p:sp>
      <p:sp>
        <p:nvSpPr>
          <p:cNvPr id="41" name="Text 39">
            <a:extLst>
              <a:ext uri="{FF2B5EF4-FFF2-40B4-BE49-F238E27FC236}">
                <a16:creationId xmlns:a16="http://schemas.microsoft.com/office/drawing/2014/main" id="{56C247F9-A2DE-092F-8282-C537F02B612C}"/>
              </a:ext>
            </a:extLst>
          </p:cNvPr>
          <p:cNvSpPr/>
          <p:nvPr/>
        </p:nvSpPr>
        <p:spPr>
          <a:xfrm>
            <a:off x="4846320" y="4187952"/>
            <a:ext cx="37216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>
              <a:solidFill>
                <a:srgbClr val="4A5068"/>
              </a:solidFill>
              <a:ea typeface="Calibri"/>
              <a:cs typeface="Calibri"/>
            </a:endParaRPr>
          </a:p>
        </p:txBody>
      </p:sp>
      <p:sp>
        <p:nvSpPr>
          <p:cNvPr id="38" name="Shape 28">
            <a:extLst>
              <a:ext uri="{FF2B5EF4-FFF2-40B4-BE49-F238E27FC236}">
                <a16:creationId xmlns:a16="http://schemas.microsoft.com/office/drawing/2014/main" id="{F94BD4AE-C180-58DC-452C-718B5199D3BB}"/>
              </a:ext>
            </a:extLst>
          </p:cNvPr>
          <p:cNvSpPr/>
          <p:nvPr/>
        </p:nvSpPr>
        <p:spPr>
          <a:xfrm>
            <a:off x="4708942" y="1968354"/>
            <a:ext cx="91440" cy="914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9" name="Text 29">
            <a:extLst>
              <a:ext uri="{FF2B5EF4-FFF2-40B4-BE49-F238E27FC236}">
                <a16:creationId xmlns:a16="http://schemas.microsoft.com/office/drawing/2014/main" id="{A3C5F070-1B0A-EAC0-E80D-F8EEA0CAAB45}"/>
              </a:ext>
            </a:extLst>
          </p:cNvPr>
          <p:cNvSpPr/>
          <p:nvPr/>
        </p:nvSpPr>
        <p:spPr>
          <a:xfrm>
            <a:off x="4895306" y="1931343"/>
            <a:ext cx="3770593" cy="465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>
                <a:solidFill>
                  <a:srgbClr val="4A5068"/>
                </a:solidFill>
                <a:ea typeface="+mn-lt"/>
                <a:cs typeface="+mn-lt"/>
              </a:rPr>
              <a:t>Used Pinecone cloud to enable scalable storage and efficient retrieval</a:t>
            </a:r>
            <a:endParaRPr lang="en-US"/>
          </a:p>
          <a:p>
            <a:pPr marL="0" indent="0">
              <a:buNone/>
            </a:pPr>
            <a:endParaRPr lang="en-US" sz="1100" dirty="0">
              <a:solidFill>
                <a:srgbClr val="4A5068"/>
              </a:solidFill>
              <a:ea typeface="Calibri"/>
              <a:cs typeface="Calibri"/>
            </a:endParaRPr>
          </a:p>
        </p:txBody>
      </p:sp>
      <p:sp>
        <p:nvSpPr>
          <p:cNvPr id="40" name="Shape 30">
            <a:extLst>
              <a:ext uri="{FF2B5EF4-FFF2-40B4-BE49-F238E27FC236}">
                <a16:creationId xmlns:a16="http://schemas.microsoft.com/office/drawing/2014/main" id="{09750419-A43E-FA49-E7F5-564EB91B00D7}"/>
              </a:ext>
            </a:extLst>
          </p:cNvPr>
          <p:cNvSpPr/>
          <p:nvPr/>
        </p:nvSpPr>
        <p:spPr>
          <a:xfrm>
            <a:off x="4752485" y="2456687"/>
            <a:ext cx="91440" cy="9144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42" name="Text 31">
            <a:extLst>
              <a:ext uri="{FF2B5EF4-FFF2-40B4-BE49-F238E27FC236}">
                <a16:creationId xmlns:a16="http://schemas.microsoft.com/office/drawing/2014/main" id="{CA0CB979-7231-82AC-9FAD-25BF891B9BBB}"/>
              </a:ext>
            </a:extLst>
          </p:cNvPr>
          <p:cNvSpPr/>
          <p:nvPr/>
        </p:nvSpPr>
        <p:spPr>
          <a:xfrm>
            <a:off x="4922521" y="2452334"/>
            <a:ext cx="3743378" cy="4598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>
                <a:solidFill>
                  <a:srgbClr val="4A5068"/>
                </a:solidFill>
                <a:ea typeface="+mn-lt"/>
                <a:cs typeface="+mn-lt"/>
              </a:rPr>
              <a:t>Improved response formatting to ensure consistent structured outputs</a:t>
            </a:r>
            <a:endParaRPr lang="en-US"/>
          </a:p>
          <a:p>
            <a:pPr marL="0" indent="0">
              <a:buNone/>
            </a:pPr>
            <a:endParaRPr lang="en-US" sz="1100" dirty="0">
              <a:solidFill>
                <a:srgbClr val="4A5068"/>
              </a:solidFill>
              <a:ea typeface="Calibri"/>
              <a:cs typeface="Calibri"/>
            </a:endParaRPr>
          </a:p>
        </p:txBody>
      </p:sp>
      <p:sp>
        <p:nvSpPr>
          <p:cNvPr id="43" name="Shape 32">
            <a:extLst>
              <a:ext uri="{FF2B5EF4-FFF2-40B4-BE49-F238E27FC236}">
                <a16:creationId xmlns:a16="http://schemas.microsoft.com/office/drawing/2014/main" id="{54BF126F-9EAE-802C-C149-323B2EC83341}"/>
              </a:ext>
            </a:extLst>
          </p:cNvPr>
          <p:cNvSpPr/>
          <p:nvPr/>
        </p:nvSpPr>
        <p:spPr>
          <a:xfrm>
            <a:off x="4752485" y="3026664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44" name="Text 33">
            <a:extLst>
              <a:ext uri="{FF2B5EF4-FFF2-40B4-BE49-F238E27FC236}">
                <a16:creationId xmlns:a16="http://schemas.microsoft.com/office/drawing/2014/main" id="{A393C7C3-07FF-4D74-90FD-05BB00E2375B}"/>
              </a:ext>
            </a:extLst>
          </p:cNvPr>
          <p:cNvSpPr/>
          <p:nvPr/>
        </p:nvSpPr>
        <p:spPr>
          <a:xfrm>
            <a:off x="4922520" y="2951552"/>
            <a:ext cx="37216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>
                <a:solidFill>
                  <a:srgbClr val="4A5068"/>
                </a:solidFill>
                <a:ea typeface="+mn-lt"/>
                <a:cs typeface="+mn-lt"/>
              </a:rPr>
              <a:t>Optimized deployment configuration and resolved dependency issues</a:t>
            </a:r>
            <a:endParaRPr lang="en-US"/>
          </a:p>
        </p:txBody>
      </p:sp>
      <p:sp>
        <p:nvSpPr>
          <p:cNvPr id="45" name="Shape 34">
            <a:extLst>
              <a:ext uri="{FF2B5EF4-FFF2-40B4-BE49-F238E27FC236}">
                <a16:creationId xmlns:a16="http://schemas.microsoft.com/office/drawing/2014/main" id="{A7929470-5E0C-BDB5-1FA4-E3668F84CF9A}"/>
              </a:ext>
            </a:extLst>
          </p:cNvPr>
          <p:cNvSpPr/>
          <p:nvPr/>
        </p:nvSpPr>
        <p:spPr>
          <a:xfrm>
            <a:off x="4752485" y="3531325"/>
            <a:ext cx="91440" cy="91440"/>
          </a:xfrm>
          <a:prstGeom prst="ellipse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46" name="Text 35">
            <a:extLst>
              <a:ext uri="{FF2B5EF4-FFF2-40B4-BE49-F238E27FC236}">
                <a16:creationId xmlns:a16="http://schemas.microsoft.com/office/drawing/2014/main" id="{E70CFE56-7EC2-AEC7-C971-54B0C3025EF3}"/>
              </a:ext>
            </a:extLst>
          </p:cNvPr>
          <p:cNvSpPr/>
          <p:nvPr/>
        </p:nvSpPr>
        <p:spPr>
          <a:xfrm>
            <a:off x="4922520" y="3401785"/>
            <a:ext cx="37216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dirty="0">
                <a:solidFill>
                  <a:srgbClr val="4A5068"/>
                </a:solidFill>
                <a:ea typeface="+mn-lt"/>
                <a:cs typeface="+mn-lt"/>
              </a:rPr>
              <a:t>Switched to </a:t>
            </a:r>
            <a:r>
              <a:rPr lang="en-US" sz="1100" dirty="0" err="1">
                <a:solidFill>
                  <a:srgbClr val="4A5068"/>
                </a:solidFill>
                <a:ea typeface="+mn-lt"/>
                <a:cs typeface="+mn-lt"/>
              </a:rPr>
              <a:t>Groq</a:t>
            </a:r>
            <a:r>
              <a:rPr lang="en-US" sz="1100" dirty="0">
                <a:solidFill>
                  <a:srgbClr val="4A5068"/>
                </a:solidFill>
                <a:ea typeface="+mn-lt"/>
                <a:cs typeface="+mn-lt"/>
              </a:rPr>
              <a:t> API for faster inference and stable performance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35324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219456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900" b="1" kern="0" spc="300">
                <a:solidFill>
                  <a:srgbClr val="D97706"/>
                </a:solidFill>
                <a:latin typeface="Calibri"/>
                <a:ea typeface="Calibri"/>
                <a:cs typeface="Calibri"/>
              </a:rPr>
              <a:t>SLIDE 15  —  ROADMAP</a:t>
            </a:r>
            <a:endParaRPr lang="en-US" sz="900">
              <a:latin typeface="Calibri"/>
              <a:ea typeface="Calibri"/>
              <a:cs typeface="Calibri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402336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1A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Enhancements</a:t>
            </a:r>
            <a:endParaRPr lang="en-US" sz="260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8229600" cy="274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09160" y="1143000"/>
            <a:ext cx="4114800" cy="1755648"/>
          </a:xfrm>
          <a:prstGeom prst="rect">
            <a:avLst/>
          </a:prstGeom>
          <a:solidFill>
            <a:srgbClr val="FFFFFF"/>
          </a:solidFill>
          <a:ln w="19050">
            <a:solidFill>
              <a:srgbClr val="4F46E5"/>
            </a:solidFill>
            <a:prstDash val="solid"/>
          </a:ln>
          <a:effectLst>
            <a:outerShdw blurRad="127000" dist="38100" dir="8100000" algn="bl" rotWithShape="0">
              <a:srgbClr val="1A1D2E">
                <a:alpha val="9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09160" y="1143000"/>
            <a:ext cx="4114800" cy="54864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09160" y="123444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🏢</a:t>
            </a:r>
            <a:endParaRPr lang="en-US" sz="2800"/>
          </a:p>
        </p:txBody>
      </p:sp>
      <p:sp>
        <p:nvSpPr>
          <p:cNvPr id="14" name="Text 12"/>
          <p:cNvSpPr/>
          <p:nvPr/>
        </p:nvSpPr>
        <p:spPr>
          <a:xfrm>
            <a:off x="4846320" y="1819656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>
                <a:solidFill>
                  <a:srgbClr val="1A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Knowledge Sources</a:t>
            </a:r>
            <a:endParaRPr lang="en-US" sz="1250"/>
          </a:p>
        </p:txBody>
      </p:sp>
      <p:sp>
        <p:nvSpPr>
          <p:cNvPr id="15" name="Text 13"/>
          <p:cNvSpPr/>
          <p:nvPr/>
        </p:nvSpPr>
        <p:spPr>
          <a:xfrm>
            <a:off x="4846320" y="2185416"/>
            <a:ext cx="38404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4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support for enterprise document repositories, SharePoint, and proprietary telecom knowledge bases.</a:t>
            </a:r>
            <a:endParaRPr lang="en-US" sz="1000"/>
          </a:p>
        </p:txBody>
      </p:sp>
      <p:sp>
        <p:nvSpPr>
          <p:cNvPr id="16" name="Shape 14"/>
          <p:cNvSpPr/>
          <p:nvPr/>
        </p:nvSpPr>
        <p:spPr>
          <a:xfrm>
            <a:off x="483989" y="1160145"/>
            <a:ext cx="4114800" cy="1755648"/>
          </a:xfrm>
          <a:prstGeom prst="rect">
            <a:avLst/>
          </a:prstGeom>
          <a:solidFill>
            <a:srgbClr val="FFFFFF"/>
          </a:solidFill>
          <a:ln w="19050">
            <a:solidFill>
              <a:srgbClr val="E11D48"/>
            </a:solidFill>
            <a:prstDash val="solid"/>
          </a:ln>
          <a:effectLst>
            <a:outerShdw blurRad="127000" dist="38100" dir="8100000" algn="bl" rotWithShape="0">
              <a:srgbClr val="1A1D2E">
                <a:alpha val="9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83989" y="1160145"/>
            <a:ext cx="4114800" cy="54864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3989" y="1251585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🏗️</a:t>
            </a:r>
            <a:endParaRPr lang="en-US" sz="2800"/>
          </a:p>
        </p:txBody>
      </p:sp>
      <p:sp>
        <p:nvSpPr>
          <p:cNvPr id="19" name="Text 17"/>
          <p:cNvSpPr/>
          <p:nvPr/>
        </p:nvSpPr>
        <p:spPr>
          <a:xfrm>
            <a:off x="621149" y="1836801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>
                <a:solidFill>
                  <a:srgbClr val="1A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Diagram Export</a:t>
            </a:r>
            <a:endParaRPr lang="en-US" sz="1250"/>
          </a:p>
        </p:txBody>
      </p:sp>
      <p:sp>
        <p:nvSpPr>
          <p:cNvPr id="20" name="Text 18"/>
          <p:cNvSpPr/>
          <p:nvPr/>
        </p:nvSpPr>
        <p:spPr>
          <a:xfrm>
            <a:off x="621149" y="2202561"/>
            <a:ext cx="38404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4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 architecture diagrams from text using Mermaid.js or draw.io for visual architecture deliverables.</a:t>
            </a:r>
            <a:endParaRPr lang="en-US" sz="1000"/>
          </a:p>
        </p:txBody>
      </p:sp>
      <p:sp>
        <p:nvSpPr>
          <p:cNvPr id="21" name="Shape 19"/>
          <p:cNvSpPr/>
          <p:nvPr/>
        </p:nvSpPr>
        <p:spPr>
          <a:xfrm>
            <a:off x="2423160" y="3044309"/>
            <a:ext cx="4114800" cy="1755648"/>
          </a:xfrm>
          <a:prstGeom prst="rect">
            <a:avLst/>
          </a:prstGeom>
          <a:solidFill>
            <a:srgbClr val="FFFFFF"/>
          </a:solidFill>
          <a:ln w="19050">
            <a:solidFill>
              <a:srgbClr val="0891B2"/>
            </a:solidFill>
            <a:prstDash val="solid"/>
          </a:ln>
          <a:effectLst>
            <a:outerShdw blurRad="127000" dist="38100" dir="8100000" algn="bl" rotWithShape="0">
              <a:srgbClr val="1A1D2E">
                <a:alpha val="9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423160" y="2990731"/>
            <a:ext cx="4114800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423160" y="3135749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🌍</a:t>
            </a:r>
            <a:endParaRPr lang="en-US" sz="2800"/>
          </a:p>
        </p:txBody>
      </p:sp>
      <p:sp>
        <p:nvSpPr>
          <p:cNvPr id="24" name="Text 22"/>
          <p:cNvSpPr/>
          <p:nvPr/>
        </p:nvSpPr>
        <p:spPr>
          <a:xfrm>
            <a:off x="2560320" y="3720965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>
                <a:solidFill>
                  <a:srgbClr val="1A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Expanded Web Sources</a:t>
            </a:r>
            <a:endParaRPr lang="en-US" sz="1250"/>
          </a:p>
        </p:txBody>
      </p:sp>
      <p:sp>
        <p:nvSpPr>
          <p:cNvPr id="25" name="Text 23"/>
          <p:cNvSpPr/>
          <p:nvPr/>
        </p:nvSpPr>
        <p:spPr>
          <a:xfrm>
            <a:off x="2560320" y="4086725"/>
            <a:ext cx="38404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4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more standards bodies (3GPP, ETSI) and broaden the live web-scraping source list for richer context.</a:t>
            </a:r>
            <a:endParaRPr lang="en-US" sz="10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219456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900" b="1" kern="0" spc="300">
                <a:solidFill>
                  <a:srgbClr val="4F46E5"/>
                </a:solidFill>
                <a:latin typeface="Calibri"/>
                <a:ea typeface="Calibri"/>
                <a:cs typeface="Calibri"/>
              </a:rPr>
              <a:t>SLIDE 16  —  CONCLUSION</a:t>
            </a:r>
            <a:endParaRPr lang="en-US" sz="900">
              <a:latin typeface="Calibri"/>
              <a:ea typeface="Calibri"/>
              <a:cs typeface="Calibri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402336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1A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260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8229600" cy="27432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115568"/>
            <a:ext cx="2697480" cy="2423160"/>
          </a:xfrm>
          <a:prstGeom prst="rect">
            <a:avLst/>
          </a:prstGeom>
          <a:solidFill>
            <a:srgbClr val="F4F6FB"/>
          </a:solidFill>
          <a:ln w="12700">
            <a:solidFill>
              <a:srgbClr val="D1D8E8"/>
            </a:solidFill>
            <a:prstDash val="solid"/>
          </a:ln>
          <a:effectLst>
            <a:outerShdw blurRad="127000" dist="38100" dir="8100000" algn="bl" rotWithShape="0">
              <a:srgbClr val="1A1D2E">
                <a:alpha val="9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115568"/>
            <a:ext cx="2697480" cy="54864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207008"/>
            <a:ext cx="2697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</a:t>
            </a:r>
            <a:endParaRPr lang="en-US" sz="3000"/>
          </a:p>
        </p:txBody>
      </p:sp>
      <p:sp>
        <p:nvSpPr>
          <p:cNvPr id="9" name="Text 7"/>
          <p:cNvSpPr/>
          <p:nvPr/>
        </p:nvSpPr>
        <p:spPr>
          <a:xfrm>
            <a:off x="548640" y="1847088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1A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AI System</a:t>
            </a:r>
            <a:endParaRPr lang="en-US" sz="1300"/>
          </a:p>
        </p:txBody>
      </p:sp>
      <p:sp>
        <p:nvSpPr>
          <p:cNvPr id="10" name="Text 8"/>
          <p:cNvSpPr/>
          <p:nvPr/>
        </p:nvSpPr>
        <p:spPr>
          <a:xfrm>
            <a:off x="548640" y="2231136"/>
            <a:ext cx="251460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4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 single cloud-deployed RAG system combining PDF documents and live web sources via Pinecone + Groq.</a:t>
            </a:r>
            <a:endParaRPr lang="en-US" sz="1000"/>
          </a:p>
        </p:txBody>
      </p:sp>
      <p:sp>
        <p:nvSpPr>
          <p:cNvPr id="11" name="Shape 9"/>
          <p:cNvSpPr/>
          <p:nvPr/>
        </p:nvSpPr>
        <p:spPr>
          <a:xfrm>
            <a:off x="3291840" y="1115568"/>
            <a:ext cx="2697480" cy="2423160"/>
          </a:xfrm>
          <a:prstGeom prst="rect">
            <a:avLst/>
          </a:prstGeom>
          <a:solidFill>
            <a:srgbClr val="F4F6FB"/>
          </a:solidFill>
          <a:ln w="12700">
            <a:solidFill>
              <a:srgbClr val="D1D8E8"/>
            </a:solidFill>
            <a:prstDash val="solid"/>
          </a:ln>
          <a:effectLst>
            <a:outerShdw blurRad="127000" dist="38100" dir="8100000" algn="bl" rotWithShape="0">
              <a:srgbClr val="1A1D2E">
                <a:alpha val="9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91840" y="1115568"/>
            <a:ext cx="2697480" cy="54864"/>
          </a:xfrm>
          <a:prstGeom prst="rect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91840" y="1207008"/>
            <a:ext cx="2697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📡</a:t>
            </a:r>
            <a:endParaRPr lang="en-US" sz="3000"/>
          </a:p>
        </p:txBody>
      </p:sp>
      <p:sp>
        <p:nvSpPr>
          <p:cNvPr id="14" name="Text 12"/>
          <p:cNvSpPr/>
          <p:nvPr/>
        </p:nvSpPr>
        <p:spPr>
          <a:xfrm>
            <a:off x="3383280" y="1847088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1A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App</a:t>
            </a:r>
            <a:endParaRPr lang="en-US" sz="1300"/>
          </a:p>
        </p:txBody>
      </p:sp>
      <p:sp>
        <p:nvSpPr>
          <p:cNvPr id="15" name="Text 13"/>
          <p:cNvSpPr/>
          <p:nvPr/>
        </p:nvSpPr>
        <p:spPr>
          <a:xfrm>
            <a:off x="3383280" y="2231136"/>
            <a:ext cx="251460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4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Demonstrated real-world telecom AI covering eTOM, SID, TMF APIs, Architecture, and ServiceNow domains.</a:t>
            </a:r>
            <a:endParaRPr lang="en-US" sz="1000"/>
          </a:p>
        </p:txBody>
      </p:sp>
      <p:sp>
        <p:nvSpPr>
          <p:cNvPr id="16" name="Shape 14"/>
          <p:cNvSpPr/>
          <p:nvPr/>
        </p:nvSpPr>
        <p:spPr>
          <a:xfrm>
            <a:off x="6126480" y="1115568"/>
            <a:ext cx="2697480" cy="2423160"/>
          </a:xfrm>
          <a:prstGeom prst="rect">
            <a:avLst/>
          </a:prstGeom>
          <a:solidFill>
            <a:srgbClr val="F4F6FB"/>
          </a:solidFill>
          <a:ln w="12700">
            <a:solidFill>
              <a:srgbClr val="D1D8E8"/>
            </a:solidFill>
            <a:prstDash val="solid"/>
          </a:ln>
          <a:effectLst>
            <a:outerShdw blurRad="127000" dist="38100" dir="8100000" algn="bl" rotWithShape="0">
              <a:srgbClr val="1A1D2E">
                <a:alpha val="9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26480" y="1115568"/>
            <a:ext cx="2697480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26480" y="1207008"/>
            <a:ext cx="2697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</a:t>
            </a:r>
            <a:endParaRPr lang="en-US" sz="3000"/>
          </a:p>
        </p:txBody>
      </p:sp>
      <p:sp>
        <p:nvSpPr>
          <p:cNvPr id="19" name="Text 17"/>
          <p:cNvSpPr/>
          <p:nvPr/>
        </p:nvSpPr>
        <p:spPr>
          <a:xfrm>
            <a:off x="6217920" y="1847088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1A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&amp; Accurate</a:t>
            </a:r>
            <a:endParaRPr lang="en-US" sz="1300"/>
          </a:p>
        </p:txBody>
      </p:sp>
      <p:sp>
        <p:nvSpPr>
          <p:cNvPr id="20" name="Text 18"/>
          <p:cNvSpPr/>
          <p:nvPr/>
        </p:nvSpPr>
        <p:spPr>
          <a:xfrm>
            <a:off x="6217920" y="2231136"/>
            <a:ext cx="251460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4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Groq's high-speed inference combined with Pinecone retrieval delivers grounded answers in seconds.</a:t>
            </a:r>
            <a:endParaRPr lang="en-US" sz="1000"/>
          </a:p>
        </p:txBody>
      </p:sp>
      <p:sp>
        <p:nvSpPr>
          <p:cNvPr id="21" name="Shape 19"/>
          <p:cNvSpPr/>
          <p:nvPr/>
        </p:nvSpPr>
        <p:spPr>
          <a:xfrm>
            <a:off x="457200" y="3657600"/>
            <a:ext cx="8229600" cy="1435608"/>
          </a:xfrm>
          <a:prstGeom prst="rect">
            <a:avLst/>
          </a:prstGeom>
          <a:solidFill>
            <a:srgbClr val="F4F6FB"/>
          </a:solidFill>
          <a:ln w="12700">
            <a:solidFill>
              <a:srgbClr val="D1D8E8"/>
            </a:solidFill>
            <a:prstDash val="solid"/>
          </a:ln>
          <a:effectLst>
            <a:outerShdw blurRad="63500" dist="25400" dir="8100000" algn="bl" rotWithShape="0">
              <a:srgbClr val="1A1D2E">
                <a:alpha val="7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57200" y="3657600"/>
            <a:ext cx="8229600" cy="54864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4360" y="3730752"/>
            <a:ext cx="7955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200"/>
          </a:p>
        </p:txBody>
      </p:sp>
      <p:sp>
        <p:nvSpPr>
          <p:cNvPr id="24" name="Shape 22"/>
          <p:cNvSpPr/>
          <p:nvPr/>
        </p:nvSpPr>
        <p:spPr>
          <a:xfrm>
            <a:off x="594360" y="4169664"/>
            <a:ext cx="91440" cy="9144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58952" y="4078224"/>
            <a:ext cx="77906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4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reduces hallucination by grounding answers in real retrieved documents</a:t>
            </a:r>
            <a:endParaRPr lang="en-US" sz="1100"/>
          </a:p>
        </p:txBody>
      </p:sp>
      <p:sp>
        <p:nvSpPr>
          <p:cNvPr id="26" name="Shape 24"/>
          <p:cNvSpPr/>
          <p:nvPr/>
        </p:nvSpPr>
        <p:spPr>
          <a:xfrm>
            <a:off x="594360" y="4517136"/>
            <a:ext cx="91440" cy="9144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58952" y="4425696"/>
            <a:ext cx="77906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4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Combining PDFs with live web scraping keeps the knowledge base current</a:t>
            </a:r>
            <a:endParaRPr lang="en-US" sz="1100"/>
          </a:p>
        </p:txBody>
      </p:sp>
      <p:sp>
        <p:nvSpPr>
          <p:cNvPr id="28" name="Shape 26"/>
          <p:cNvSpPr/>
          <p:nvPr/>
        </p:nvSpPr>
        <p:spPr>
          <a:xfrm>
            <a:off x="594360" y="4864608"/>
            <a:ext cx="91440" cy="9144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58952" y="4773168"/>
            <a:ext cx="77906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4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Groq's fast inference + Pinecone's scalable retrieval enable a responsive cloud app</a:t>
            </a:r>
            <a:endParaRPr lang="en-US" sz="11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78908"/>
            <a:ext cx="9144000" cy="164592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82872" y="1282867"/>
            <a:ext cx="82296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800" b="1">
                <a:solidFill>
                  <a:srgbClr val="1A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</a:t>
            </a:r>
            <a:endParaRPr lang="en-US" sz="5800"/>
          </a:p>
        </p:txBody>
      </p:sp>
      <p:sp>
        <p:nvSpPr>
          <p:cNvPr id="5" name="Text 3"/>
          <p:cNvSpPr/>
          <p:nvPr/>
        </p:nvSpPr>
        <p:spPr>
          <a:xfrm>
            <a:off x="285805" y="2469422"/>
            <a:ext cx="8238129" cy="1006726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/>
            <a:r>
              <a:rPr lang="en-US" sz="1400" i="1">
                <a:solidFill>
                  <a:srgbClr val="4F46E5"/>
                </a:solidFill>
                <a:latin typeface="Calibri"/>
                <a:ea typeface="Calibri"/>
                <a:cs typeface="Calibri"/>
              </a:rPr>
              <a:t>Shruti Jain </a:t>
            </a:r>
            <a:endParaRPr lang="en-US" sz="1400">
              <a:latin typeface="Calibri"/>
              <a:ea typeface="Calibri"/>
              <a:cs typeface="Calibri"/>
            </a:endParaRPr>
          </a:p>
          <a:p>
            <a:pPr algn="ctr"/>
            <a:r>
              <a:rPr lang="en-US" sz="1400" i="1" dirty="0" err="1">
                <a:solidFill>
                  <a:srgbClr val="4F46E5"/>
                </a:solidFill>
                <a:latin typeface="Calibri"/>
                <a:ea typeface="Calibri"/>
                <a:cs typeface="Calibri"/>
              </a:rPr>
              <a:t>B.Tech</a:t>
            </a:r>
            <a:r>
              <a:rPr lang="en-US" sz="1400" i="1" dirty="0">
                <a:solidFill>
                  <a:srgbClr val="4F46E5"/>
                </a:solidFill>
                <a:latin typeface="Calibri"/>
                <a:ea typeface="Calibri"/>
                <a:cs typeface="Calibri"/>
              </a:rPr>
              <a:t> Computer Science</a:t>
            </a:r>
          </a:p>
          <a:p>
            <a:pPr algn="ctr"/>
            <a:r>
              <a:rPr lang="en-US" sz="1400" i="1">
                <a:solidFill>
                  <a:srgbClr val="4F46E5"/>
                </a:solidFill>
                <a:latin typeface="Calibri"/>
                <a:ea typeface="Calibri"/>
                <a:cs typeface="Calibri"/>
              </a:rPr>
              <a:t>  Intern – AI / Telecom</a:t>
            </a:r>
            <a:endParaRPr lang="en-US" sz="1400">
              <a:latin typeface="Calibri"/>
              <a:ea typeface="Calibri"/>
              <a:cs typeface="Calibri"/>
            </a:endParaRPr>
          </a:p>
          <a:p>
            <a:pPr algn="ctr"/>
            <a:endParaRPr lang="en-US" sz="1600" i="1" dirty="0">
              <a:solidFill>
                <a:srgbClr val="4F46E5"/>
              </a:solidFill>
              <a:ea typeface="Calibri"/>
              <a:cs typeface="Calibri"/>
            </a:endParaRPr>
          </a:p>
        </p:txBody>
      </p:sp>
      <p:sp>
        <p:nvSpPr>
          <p:cNvPr id="6" name="Shape 4"/>
          <p:cNvSpPr/>
          <p:nvPr/>
        </p:nvSpPr>
        <p:spPr>
          <a:xfrm>
            <a:off x="3313985" y="3210830"/>
            <a:ext cx="2194560" cy="5486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pic>
        <p:nvPicPr>
          <p:cNvPr id="29" name="Picture 28" descr="A red text on a white background&#10;&#10;AI-generated content may be incorrect.">
            <a:extLst>
              <a:ext uri="{FF2B5EF4-FFF2-40B4-BE49-F238E27FC236}">
                <a16:creationId xmlns:a16="http://schemas.microsoft.com/office/drawing/2014/main" id="{F533068B-4091-0D22-FEC7-E37D8D3798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70951" y="4060209"/>
            <a:ext cx="1838325" cy="571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D9A78"/>
      </a:accent1>
      <a:accent2>
        <a:srgbClr val="8BC145"/>
      </a:accent2>
      <a:accent3>
        <a:srgbClr val="36AFCE"/>
      </a:accent3>
      <a:accent4>
        <a:srgbClr val="1D6FA9"/>
      </a:accent4>
      <a:accent5>
        <a:srgbClr val="B74919"/>
      </a:accent5>
      <a:accent6>
        <a:srgbClr val="F19D19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AE6F2518-B084-4896-AF52-66CC2144AA2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On-screen Show (16:9)</PresentationFormat>
  <Slides>17</Slides>
  <Notes>17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8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Telecom Solution Architect Co-Pilot</dc:title>
  <dc:subject>PptxGenJS Presentation</dc:subject>
  <dc:creator>Shruti Jain</dc:creator>
  <cp:revision>758</cp:revision>
  <dcterms:created xsi:type="dcterms:W3CDTF">2026-06-17T18:32:53Z</dcterms:created>
  <dcterms:modified xsi:type="dcterms:W3CDTF">2026-06-22T03:43:40Z</dcterms:modified>
</cp:coreProperties>
</file>